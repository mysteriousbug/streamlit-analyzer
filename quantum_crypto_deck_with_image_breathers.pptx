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500" r:id="rId17"/>
    <p:sldId id="260" r:id="rId3"/>
    <p:sldId id="273" r:id="rId4"/>
    <p:sldId id="501" r:id="rId18"/>
    <p:sldId id="272" r:id="rId5"/>
    <p:sldId id="502" r:id="rId19"/>
    <p:sldId id="441" r:id="rId6"/>
    <p:sldId id="503" r:id="rId20"/>
    <p:sldId id="445" r:id="rId7"/>
    <p:sldId id="447" r:id="rId8"/>
    <p:sldId id="4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6BB10-FF49-4444-B68C-DEC8D23A8A02}" v="9" dt="2026-04-29T10:40:15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thal, Ananya" userId="dd5385c3-1acd-4ff4-8ef5-66c27a38ae99" providerId="ADAL" clId="{58207EDA-3479-4F2F-94AD-D09CB94E4FF3}"/>
    <pc:docChg chg="custSel mod addSld delSld modSld modMainMaster">
      <pc:chgData name="Aithal, Ananya" userId="dd5385c3-1acd-4ff4-8ef5-66c27a38ae99" providerId="ADAL" clId="{58207EDA-3479-4F2F-94AD-D09CB94E4FF3}" dt="2026-04-29T10:40:29.988" v="19" actId="47"/>
      <pc:docMkLst>
        <pc:docMk/>
      </pc:docMkLst>
      <pc:sldChg chg="add">
        <pc:chgData name="Aithal, Ananya" userId="dd5385c3-1acd-4ff4-8ef5-66c27a38ae99" providerId="ADAL" clId="{58207EDA-3479-4F2F-94AD-D09CB94E4FF3}" dt="2026-04-29T10:39:49.030" v="2"/>
        <pc:sldMkLst>
          <pc:docMk/>
          <pc:sldMk cId="3522999077" sldId="258"/>
        </pc:sldMkLst>
      </pc:sldChg>
      <pc:sldChg chg="modSp add">
        <pc:chgData name="Aithal, Ananya" userId="dd5385c3-1acd-4ff4-8ef5-66c27a38ae99" providerId="ADAL" clId="{58207EDA-3479-4F2F-94AD-D09CB94E4FF3}" dt="2026-04-29T10:39:50.898" v="3"/>
        <pc:sldMkLst>
          <pc:docMk/>
          <pc:sldMk cId="3872817858" sldId="260"/>
        </pc:sldMkLst>
        <pc:graphicFrameChg chg="mod">
          <ac:chgData name="Aithal, Ananya" userId="dd5385c3-1acd-4ff4-8ef5-66c27a38ae99" providerId="ADAL" clId="{58207EDA-3479-4F2F-94AD-D09CB94E4FF3}" dt="2026-04-29T10:39:50.898" v="3"/>
          <ac:graphicFrameMkLst>
            <pc:docMk/>
            <pc:sldMk cId="3872817858" sldId="260"/>
            <ac:graphicFrameMk id="23" creationId="{766D6711-A6C8-4CE1-82B7-42B5589711E0}"/>
          </ac:graphicFrameMkLst>
        </pc:graphicFrameChg>
      </pc:sldChg>
      <pc:sldChg chg="add">
        <pc:chgData name="Aithal, Ananya" userId="dd5385c3-1acd-4ff4-8ef5-66c27a38ae99" providerId="ADAL" clId="{58207EDA-3479-4F2F-94AD-D09CB94E4FF3}" dt="2026-04-29T10:39:56.225" v="5"/>
        <pc:sldMkLst>
          <pc:docMk/>
          <pc:sldMk cId="2890849230" sldId="272"/>
        </pc:sldMkLst>
      </pc:sldChg>
      <pc:sldChg chg="add setBg">
        <pc:chgData name="Aithal, Ananya" userId="dd5385c3-1acd-4ff4-8ef5-66c27a38ae99" providerId="ADAL" clId="{58207EDA-3479-4F2F-94AD-D09CB94E4FF3}" dt="2026-04-29T10:39:52.568" v="4"/>
        <pc:sldMkLst>
          <pc:docMk/>
          <pc:sldMk cId="1818988286" sldId="273"/>
        </pc:sldMkLst>
      </pc:sldChg>
      <pc:sldChg chg="modSp add mod">
        <pc:chgData name="Aithal, Ananya" userId="dd5385c3-1acd-4ff4-8ef5-66c27a38ae99" providerId="ADAL" clId="{58207EDA-3479-4F2F-94AD-D09CB94E4FF3}" dt="2026-04-29T10:40:02.246" v="7" actId="27636"/>
        <pc:sldMkLst>
          <pc:docMk/>
          <pc:sldMk cId="1305271100" sldId="441"/>
        </pc:sldMkLst>
        <pc:spChg chg="mod">
          <ac:chgData name="Aithal, Ananya" userId="dd5385c3-1acd-4ff4-8ef5-66c27a38ae99" providerId="ADAL" clId="{58207EDA-3479-4F2F-94AD-D09CB94E4FF3}" dt="2026-04-29T10:40:02.246" v="7" actId="27636"/>
          <ac:spMkLst>
            <pc:docMk/>
            <pc:sldMk cId="1305271100" sldId="441"/>
            <ac:spMk id="5" creationId="{94242267-4F57-F0C9-1E32-30D9EA43B950}"/>
          </ac:spMkLst>
        </pc:spChg>
      </pc:sldChg>
      <pc:sldChg chg="modSp add mod">
        <pc:chgData name="Aithal, Ananya" userId="dd5385c3-1acd-4ff4-8ef5-66c27a38ae99" providerId="ADAL" clId="{58207EDA-3479-4F2F-94AD-D09CB94E4FF3}" dt="2026-04-29T10:40:03.425" v="10" actId="27636"/>
        <pc:sldMkLst>
          <pc:docMk/>
          <pc:sldMk cId="2595116474" sldId="445"/>
        </pc:sldMkLst>
        <pc:spChg chg="mod">
          <ac:chgData name="Aithal, Ananya" userId="dd5385c3-1acd-4ff4-8ef5-66c27a38ae99" providerId="ADAL" clId="{58207EDA-3479-4F2F-94AD-D09CB94E4FF3}" dt="2026-04-29T10:40:03.425" v="10" actId="27636"/>
          <ac:spMkLst>
            <pc:docMk/>
            <pc:sldMk cId="2595116474" sldId="445"/>
            <ac:spMk id="6" creationId="{DB5D3CF3-BD10-FC64-9ACA-983E5FFB41AC}"/>
          </ac:spMkLst>
        </pc:spChg>
        <pc:spChg chg="mod">
          <ac:chgData name="Aithal, Ananya" userId="dd5385c3-1acd-4ff4-8ef5-66c27a38ae99" providerId="ADAL" clId="{58207EDA-3479-4F2F-94AD-D09CB94E4FF3}" dt="2026-04-29T10:40:03.425" v="9" actId="27636"/>
          <ac:spMkLst>
            <pc:docMk/>
            <pc:sldMk cId="2595116474" sldId="445"/>
            <ac:spMk id="8" creationId="{B8F7BF44-59D4-4A0E-85D3-FBBC0A06EEED}"/>
          </ac:spMkLst>
        </pc:spChg>
        <pc:graphicFrameChg chg="mod">
          <ac:chgData name="Aithal, Ananya" userId="dd5385c3-1acd-4ff4-8ef5-66c27a38ae99" providerId="ADAL" clId="{58207EDA-3479-4F2F-94AD-D09CB94E4FF3}" dt="2026-04-29T10:40:03.378" v="8"/>
          <ac:graphicFrameMkLst>
            <pc:docMk/>
            <pc:sldMk cId="2595116474" sldId="445"/>
            <ac:graphicFrameMk id="11" creationId="{124AA6D3-EA84-DCE4-0ED7-C4850E8DAECA}"/>
          </ac:graphicFrameMkLst>
        </pc:graphicFrameChg>
      </pc:sldChg>
      <pc:sldChg chg="modSp add mod">
        <pc:chgData name="Aithal, Ananya" userId="dd5385c3-1acd-4ff4-8ef5-66c27a38ae99" providerId="ADAL" clId="{58207EDA-3479-4F2F-94AD-D09CB94E4FF3}" dt="2026-04-29T10:40:14.398" v="16" actId="27636"/>
        <pc:sldMkLst>
          <pc:docMk/>
          <pc:sldMk cId="1343929999" sldId="447"/>
        </pc:sldMkLst>
        <pc:spChg chg="mod">
          <ac:chgData name="Aithal, Ananya" userId="dd5385c3-1acd-4ff4-8ef5-66c27a38ae99" providerId="ADAL" clId="{58207EDA-3479-4F2F-94AD-D09CB94E4FF3}" dt="2026-04-29T10:40:14.398" v="16" actId="27636"/>
          <ac:spMkLst>
            <pc:docMk/>
            <pc:sldMk cId="1343929999" sldId="447"/>
            <ac:spMk id="2" creationId="{C648CE91-1506-34F5-532E-6D4EADCF7457}"/>
          </ac:spMkLst>
        </pc:spChg>
        <pc:spChg chg="mod">
          <ac:chgData name="Aithal, Ananya" userId="dd5385c3-1acd-4ff4-8ef5-66c27a38ae99" providerId="ADAL" clId="{58207EDA-3479-4F2F-94AD-D09CB94E4FF3}" dt="2026-04-29T10:40:14.398" v="15" actId="27636"/>
          <ac:spMkLst>
            <pc:docMk/>
            <pc:sldMk cId="1343929999" sldId="447"/>
            <ac:spMk id="3" creationId="{95378A5D-796C-053D-0A5F-04608C734D09}"/>
          </ac:spMkLst>
        </pc:spChg>
        <pc:spChg chg="mod">
          <ac:chgData name="Aithal, Ananya" userId="dd5385c3-1acd-4ff4-8ef5-66c27a38ae99" providerId="ADAL" clId="{58207EDA-3479-4F2F-94AD-D09CB94E4FF3}" dt="2026-04-29T10:40:14.398" v="14" actId="27636"/>
          <ac:spMkLst>
            <pc:docMk/>
            <pc:sldMk cId="1343929999" sldId="447"/>
            <ac:spMk id="4" creationId="{322FD75A-811A-6762-5150-48187FE45CBB}"/>
          </ac:spMkLst>
        </pc:spChg>
      </pc:sldChg>
      <pc:sldChg chg="modSp add mod setBg">
        <pc:chgData name="Aithal, Ananya" userId="dd5385c3-1acd-4ff4-8ef5-66c27a38ae99" providerId="ADAL" clId="{58207EDA-3479-4F2F-94AD-D09CB94E4FF3}" dt="2026-04-29T10:40:15.459" v="18" actId="27636"/>
        <pc:sldMkLst>
          <pc:docMk/>
          <pc:sldMk cId="264008513" sldId="448"/>
        </pc:sldMkLst>
        <pc:spChg chg="mod">
          <ac:chgData name="Aithal, Ananya" userId="dd5385c3-1acd-4ff4-8ef5-66c27a38ae99" providerId="ADAL" clId="{58207EDA-3479-4F2F-94AD-D09CB94E4FF3}" dt="2026-04-29T10:40:15.459" v="18" actId="27636"/>
          <ac:spMkLst>
            <pc:docMk/>
            <pc:sldMk cId="264008513" sldId="448"/>
            <ac:spMk id="14" creationId="{DC2FC86C-B6B1-7561-BCB4-C0824E8D4F05}"/>
          </ac:spMkLst>
        </pc:spChg>
      </pc:sldChg>
      <pc:sldChg chg="modSp add del mod">
        <pc:chgData name="Aithal, Ananya" userId="dd5385c3-1acd-4ff4-8ef5-66c27a38ae99" providerId="ADAL" clId="{58207EDA-3479-4F2F-94AD-D09CB94E4FF3}" dt="2026-04-29T10:40:29.988" v="19" actId="47"/>
        <pc:sldMkLst>
          <pc:docMk/>
          <pc:sldMk cId="3366371077" sldId="450"/>
        </pc:sldMkLst>
        <pc:spChg chg="mod">
          <ac:chgData name="Aithal, Ananya" userId="dd5385c3-1acd-4ff4-8ef5-66c27a38ae99" providerId="ADAL" clId="{58207EDA-3479-4F2F-94AD-D09CB94E4FF3}" dt="2026-04-29T10:40:05.579" v="12" actId="27636"/>
          <ac:spMkLst>
            <pc:docMk/>
            <pc:sldMk cId="3366371077" sldId="450"/>
            <ac:spMk id="8" creationId="{FBC2F624-BF5F-593C-F62A-2CD52314E0F5}"/>
          </ac:spMkLst>
        </pc:spChg>
      </pc:sldChg>
      <pc:sldMasterChg chg="addSp mod">
        <pc:chgData name="Aithal, Ananya" userId="dd5385c3-1acd-4ff4-8ef5-66c27a38ae99" providerId="ADAL" clId="{58207EDA-3479-4F2F-94AD-D09CB94E4FF3}" dt="2026-04-29T10:39:32.788" v="0" actId="33475"/>
        <pc:sldMasterMkLst>
          <pc:docMk/>
          <pc:sldMasterMk cId="4072872905" sldId="2147483648"/>
        </pc:sldMasterMkLst>
        <pc:spChg chg="add">
          <ac:chgData name="Aithal, Ananya" userId="dd5385c3-1acd-4ff4-8ef5-66c27a38ae99" providerId="ADAL" clId="{58207EDA-3479-4F2F-94AD-D09CB94E4FF3}" dt="2026-04-29T10:39:32.788" v="0" actId="33475"/>
          <ac:spMkLst>
            <pc:docMk/>
            <pc:sldMasterMk cId="4072872905" sldId="2147483648"/>
            <ac:spMk id="8" creationId="{B5971C22-DEA1-FD58-DEB0-59406A0B2BD4}"/>
          </ac:spMkLst>
        </pc:spChg>
      </pc:sldMaster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3538C-CF7D-4AEC-9BFF-4DA41F4E03C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05A8A-4C40-4E95-8DF0-1CA6FF901C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6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50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5A03-6A81-DF4F-C248-69B32BB1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72ADD-D581-ADFA-4C1D-0BE0F48C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9C72D-A25C-68DD-6F22-4782B9D5D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05848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ED9F-B1BD-2A7A-F1F1-48481BB88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FF858-58D5-49E6-F2DD-EFCC10A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3B7E0-81D9-D86B-DEC1-11451505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CDC7-49DE-1CF5-550C-8201DC6A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F941-27B6-C0B7-9D78-987E44A1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92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8FA4-CA61-0B3B-BEC2-01D7306B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ECF2-119B-28C1-188C-68E3B87C1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F65C-DA6C-79EF-0B99-223494A6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5ECA6-60A3-AC4F-BDBD-A9F78A8C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08DC5-4249-86C0-A595-C045A052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68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9EF3-9ADB-9292-34D7-960E4D58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14C16-5F33-4597-89B2-35A7ABEC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46037-A40A-1B23-B244-A88758C3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63946-13B5-3C57-52B3-484992E6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162FD-138F-047B-37AD-75AA562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7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E05C-7A05-79F8-917E-6F4FF7B1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D2B5-5E64-4CD2-80A4-5A808CBCC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D5432-8688-85C9-D9C3-88675323C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A280-ED9D-4CE9-F5E7-105466D8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EAFA5-2A00-F548-C5AF-C78E6E80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ACF5-4BB0-A7BF-5109-BDC1EA0F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9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1291-6476-44DD-C36A-47F41B00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CFED7-C08C-B796-05EE-B0EC5B5B0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4EB50-57AA-F49F-A01D-0CE441F1D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287B5-DD25-E169-E08F-372338333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CA096-0190-AE50-7260-EAB58F97E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3179A-5F86-10B5-7494-F574943F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0FD33-0CBE-9999-AB2C-C0F348D2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517DF-60EF-850F-4505-FAA0FB0E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20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D19D-82F7-F33A-81F5-01493531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529D5-64E1-57C1-509B-EA154A4E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71972-00D1-2466-ED8E-E0B1D440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5FDF4-E03A-1C11-65C1-ABB9B4CD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77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4CA97-6FC4-BE6B-90A4-9C797F8D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4CEA4-C510-1899-A193-E9386FC6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D6E6-C80F-ABBF-7710-291B74C9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29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9303-05AE-BDCA-5C90-0FFF1FE3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2F03-E7B3-F1D3-73CC-66CABAF9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712CD-15DC-9295-8A81-21FFB9FB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CCEB5-E74D-805E-DD07-1A9DCB07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D89CE-D740-098C-CAF2-905C6CFB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C0492-5F6E-E904-57C5-9E9CCFA5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02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6A6D-76F3-D103-3CAF-E928E9A9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24458-90F8-8FB5-453C-9285D850A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86B6A-C9CA-F440-9FFE-6A32C4FE1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E02C4-4133-484E-D01C-B3FCA3F0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C46F7-AA0D-146F-2186-F555985A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FA127-89BB-28DB-D734-EE92DC5B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50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D890-5A46-9492-0F2F-1F171B65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CAC3-4E57-430F-0E3E-50677582E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AFA6-2BF9-85EE-BF92-283A9C44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019E4-8300-0AE9-953B-3EBBC22F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61BDC-61C4-1D9D-D7A8-99AD4E02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9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25750-20FE-601D-D7FF-57ED61AD6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5D8B3-D32B-0203-5468-CF58020FE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4B7EA-96AD-0F3A-E0AA-1A0C4E3E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04DA3-2FCA-627D-3C72-103F992F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945BD-DC4A-C78C-E119-D86DD273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2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BDA3-5074-413F-BB0D-D9400350AC3D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61064-3D9C-B09D-0F78-7A1F5914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8904FF-9FEA-5D9E-5CA0-2B0462AC2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976" y="1080318"/>
            <a:ext cx="5711825" cy="315407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1A8DCF7-CF92-3756-CDD3-F0A0D400FF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7976" y="1531852"/>
            <a:ext cx="5711825" cy="153033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599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- Prosp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B319-98F2-FCD4-0093-BC434E01D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5" y="3251657"/>
            <a:ext cx="11588750" cy="430887"/>
          </a:xfrm>
        </p:spPr>
        <p:txBody>
          <a:bodyPr anchor="ctr"/>
          <a:lstStyle>
            <a:lvl1pPr algn="ctr">
              <a:defRPr sz="2800" b="0"/>
            </a:lvl1pPr>
          </a:lstStyle>
          <a:p>
            <a:r>
              <a:rPr lang="en-US" dirty="0"/>
              <a:t>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5F78D-323A-4CBF-BA63-68A6B044C3C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70A2A34-1FA7-79A4-B761-5AB476D885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2400" y="4365625"/>
            <a:ext cx="4267200" cy="215443"/>
          </a:xfrm>
        </p:spPr>
        <p:txBody>
          <a:bodyPr/>
          <a:lstStyle>
            <a:lvl1pPr marL="0" marR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sub-headline here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551817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Prosp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B5A2-843F-CEA0-6935-666787F6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B948-6587-45A1-BE81-4370023B4145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F459-A526-2F3A-40F3-4806A3A9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7E88-A4C1-19CC-542E-6EF992DB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91269E-15F6-B0BB-1633-A47D21F2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4308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AE1BA-DF73-0D2A-2676-A3689BB4A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976" y="1080318"/>
            <a:ext cx="5711825" cy="315407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5CA200B-647E-7A0F-1804-C1CC427410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7976" y="1531852"/>
            <a:ext cx="5711825" cy="153033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72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85A4-E972-B1A7-B444-770419A6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A9FE-B9B0-92A1-9522-10A524F3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068389"/>
            <a:ext cx="5711825" cy="1530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107D-6818-08A6-60D8-ECD8ACDA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666B-6724-43C3-8846-7F6A9F30EEAF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8AC9-0B46-42F3-4FF9-03BB97D9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D5A95-EBFA-C7DC-29CE-6F6CAF19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51E10-3756-4739-ABBE-36B7B4A8E5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0B1F46-6102-36A6-C1BA-370DD7E7A0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201" y="1068389"/>
            <a:ext cx="5711824" cy="1530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1557113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23332-D902-7121-2DE8-AC1FA0CC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FABA2-3101-2856-6D72-69FCEDF71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F2FA-8593-822F-2E27-F377C68AE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C72D9-1B9D-48A5-8159-656D38076CD4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118C-08E5-0871-B427-E4BE1C897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5F3A2-BE27-4D85-6165-DC6568669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BAB31-1F27-46AA-B296-745FD86D75C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71C22-DEA1-FD58-DEB0-59406A0B2B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445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3171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728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2053" y="473129"/>
            <a:ext cx="6864152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What is Quantum Cryptography?</a:t>
            </a:r>
            <a:endParaRPr lang="en-US" sz="3333" b="1" dirty="0">
              <a:solidFill>
                <a:schemeClr val="tx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15950" y="1022999"/>
            <a:ext cx="4238228" cy="43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2750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Breaking Down the Terms</a:t>
            </a:r>
            <a:endParaRPr lang="en-US" sz="2750" b="1" dirty="0">
              <a:solidFill>
                <a:schemeClr val="tx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52054" y="1874738"/>
            <a:ext cx="3544094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QUANTUM</a:t>
            </a: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Smallest particles in physics (photons, electrons, atoms)</a:t>
            </a:r>
          </a:p>
          <a:p>
            <a:pPr>
              <a:lnSpc>
                <a:spcPct val="150000"/>
              </a:lnSpc>
            </a:pP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Unique properties at microscopic scale: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Superposition: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 xml:space="preserve"> Can exist in multiple states simultaneously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Entanglement: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 xml:space="preserve"> Particles connected across any distance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>Measurement Effect:</a:t>
            </a:r>
            <a:r>
              <a:rPr lang="en-US" sz="1333" dirty="0">
                <a:solidFill>
                  <a:schemeClr val="tx1">
                    <a:lumMod val="50000"/>
                  </a:schemeClr>
                </a:solidFill>
                <a:ea typeface="Instrument Sans Medium" pitchFamily="34" charset="-122"/>
                <a:cs typeface="Instrument Sans Medium" pitchFamily="34" charset="-120"/>
              </a:rPr>
              <a:t xml:space="preserve"> Observing changes the quantum state</a:t>
            </a: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GB" sz="1333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91866" y="2945507"/>
            <a:ext cx="3192264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9" name="Text 7"/>
          <p:cNvSpPr/>
          <p:nvPr/>
        </p:nvSpPr>
        <p:spPr>
          <a:xfrm>
            <a:off x="791866" y="3587453"/>
            <a:ext cx="3192264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11" name="Shape 9"/>
          <p:cNvSpPr/>
          <p:nvPr/>
        </p:nvSpPr>
        <p:spPr>
          <a:xfrm>
            <a:off x="4323854" y="1874738"/>
            <a:ext cx="3544193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CRYPTOGRAPHY</a:t>
            </a:r>
          </a:p>
          <a:p>
            <a:pPr>
              <a:lnSpc>
                <a:spcPct val="150000"/>
              </a:lnSpc>
            </a:pPr>
            <a:r>
              <a:rPr lang="en-GB" sz="1333" dirty="0">
                <a:solidFill>
                  <a:schemeClr val="tx1">
                    <a:lumMod val="50000"/>
                  </a:schemeClr>
                </a:solidFill>
              </a:rPr>
              <a:t>Science of secure communication</a:t>
            </a:r>
          </a:p>
          <a:p>
            <a:pPr>
              <a:lnSpc>
                <a:spcPct val="150000"/>
              </a:lnSpc>
            </a:pPr>
            <a:endParaRPr lang="en-GB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Converts readable data → unreadable format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Only authorized parties can decrypt</a:t>
            </a:r>
          </a:p>
        </p:txBody>
      </p:sp>
      <p:sp>
        <p:nvSpPr>
          <p:cNvPr id="13" name="Text 11"/>
          <p:cNvSpPr/>
          <p:nvPr/>
        </p:nvSpPr>
        <p:spPr>
          <a:xfrm>
            <a:off x="4499769" y="2945507"/>
            <a:ext cx="3192363" cy="271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  <p:sp>
        <p:nvSpPr>
          <p:cNvPr id="15" name="Shape 13"/>
          <p:cNvSpPr/>
          <p:nvPr/>
        </p:nvSpPr>
        <p:spPr>
          <a:xfrm>
            <a:off x="8095754" y="1874738"/>
            <a:ext cx="3544193" cy="3754537"/>
          </a:xfrm>
          <a:prstGeom prst="roundRect">
            <a:avLst>
              <a:gd name="adj" fmla="val 4469"/>
            </a:avLst>
          </a:prstGeom>
          <a:solidFill>
            <a:srgbClr val="CEE6F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33" b="1" dirty="0">
                <a:solidFill>
                  <a:schemeClr val="tx1">
                    <a:lumMod val="50000"/>
                  </a:schemeClr>
                </a:solidFill>
              </a:rPr>
              <a:t>QUANTUM CRYPTOGRAPHY</a:t>
            </a: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Using quantum mechanics for cryptographic security</a:t>
            </a:r>
          </a:p>
          <a:p>
            <a:pPr>
              <a:lnSpc>
                <a:spcPct val="150000"/>
              </a:lnSpc>
            </a:pPr>
            <a:endParaRPr lang="en-US" sz="1333" dirty="0">
              <a:solidFill>
                <a:schemeClr val="tx1">
                  <a:lumMod val="50000"/>
                </a:schemeClr>
              </a:solidFill>
            </a:endParaRP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Security guaranteed by laws of physics, NOT mathematics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dirty="0">
                <a:solidFill>
                  <a:schemeClr val="tx1">
                    <a:lumMod val="50000"/>
                  </a:schemeClr>
                </a:solidFill>
              </a:rPr>
              <a:t>Any interception attempt disturbs quantum states → instant detection</a:t>
            </a:r>
          </a:p>
        </p:txBody>
      </p:sp>
      <p:sp>
        <p:nvSpPr>
          <p:cNvPr id="17" name="Text 15"/>
          <p:cNvSpPr/>
          <p:nvPr/>
        </p:nvSpPr>
        <p:spPr>
          <a:xfrm>
            <a:off x="8207772" y="2945507"/>
            <a:ext cx="3192363" cy="54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endParaRPr lang="en-US" sz="1375" dirty="0"/>
          </a:p>
        </p:txBody>
      </p:sp>
    </p:spTree>
    <p:extLst>
      <p:ext uri="{BB962C8B-B14F-4D97-AF65-F5344CB8AC3E}">
        <p14:creationId xmlns:p14="http://schemas.microsoft.com/office/powerpoint/2010/main" val="352299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98178" y="2236292"/>
            <a:ext cx="5424190" cy="911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endParaRPr lang="en-US" sz="1083" dirty="0"/>
          </a:p>
        </p:txBody>
      </p:sp>
      <p:sp>
        <p:nvSpPr>
          <p:cNvPr id="8" name="Text 6"/>
          <p:cNvSpPr/>
          <p:nvPr/>
        </p:nvSpPr>
        <p:spPr>
          <a:xfrm>
            <a:off x="6315769" y="2236292"/>
            <a:ext cx="5344617" cy="114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endParaRPr lang="en-US" sz="1083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66D6711-A6C8-4CE1-82B7-42B5589711E0}"/>
              </a:ext>
            </a:extLst>
          </p:cNvPr>
          <p:cNvGraphicFramePr>
            <a:graphicFrameLocks noGrp="1"/>
          </p:cNvGraphicFramePr>
          <p:nvPr/>
        </p:nvGraphicFramePr>
        <p:xfrm>
          <a:off x="498178" y="1559039"/>
          <a:ext cx="7241541" cy="47058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25407">
                  <a:extLst>
                    <a:ext uri="{9D8B030D-6E8A-4147-A177-3AD203B41FA5}">
                      <a16:colId xmlns:a16="http://schemas.microsoft.com/office/drawing/2014/main" val="1254030399"/>
                    </a:ext>
                  </a:extLst>
                </a:gridCol>
                <a:gridCol w="2741342">
                  <a:extLst>
                    <a:ext uri="{9D8B030D-6E8A-4147-A177-3AD203B41FA5}">
                      <a16:colId xmlns:a16="http://schemas.microsoft.com/office/drawing/2014/main" val="235975900"/>
                    </a:ext>
                  </a:extLst>
                </a:gridCol>
                <a:gridCol w="3074792">
                  <a:extLst>
                    <a:ext uri="{9D8B030D-6E8A-4147-A177-3AD203B41FA5}">
                      <a16:colId xmlns:a16="http://schemas.microsoft.com/office/drawing/2014/main" val="2770952477"/>
                    </a:ext>
                  </a:extLst>
                </a:gridCol>
              </a:tblGrid>
              <a:tr h="490319">
                <a:tc>
                  <a:txBody>
                    <a:bodyPr/>
                    <a:lstStyle/>
                    <a:p>
                      <a:r>
                        <a:rPr lang="en-US" sz="1300" dirty="0"/>
                        <a:t>Aspect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Classical Cryptography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Quantum Cryptography</a:t>
                      </a:r>
                      <a:endParaRPr lang="en-GB" sz="13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853200435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Security Basis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Complex math problems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Laws of physics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2789570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Example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Like a very complicated puzzle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Like a sealed envelope that tears if opened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59717942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Can it be broken?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Yes, with powerful enough computers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No – physically impossible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59319403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Eavesdropping Detection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Can’t tell if someone is listening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Instantly detects any listener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9346705"/>
                  </a:ext>
                </a:extLst>
              </a:tr>
              <a:tr h="56075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Future-Proof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Quantum computers will break it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Safe forever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15018460"/>
                  </a:ext>
                </a:extLst>
              </a:tr>
              <a:tr h="1490622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Computing Power of Underlying Processing Unit</a:t>
                      </a:r>
                      <a:endParaRPr lang="en-GB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Architecture: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Binary bits (0 or 1)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Processing: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Sequential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Power growth: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Linear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RSA-2048 factoring: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300 trillion years</a:t>
                      </a:r>
                      <a:endParaRPr lang="en-US" sz="130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Architecture: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Qubits (0 AND 1 simultaneously)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Processing: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Parallel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Power growth: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Exponential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RSA-2048 factoring: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~8 hours</a:t>
                      </a:r>
                      <a:endParaRPr lang="en-US" sz="1300" dirty="0"/>
                    </a:p>
                    <a:p>
                      <a:pPr marL="342900" indent="-342900" algn="l">
                        <a:lnSpc>
                          <a:spcPts val="1850"/>
                        </a:lnSpc>
                        <a:buSzPct val="100000"/>
                        <a:buChar char="•"/>
                      </a:pPr>
                      <a:r>
                        <a:rPr lang="en-US" sz="1300" b="1" dirty="0">
                          <a:solidFill>
                            <a:srgbClr val="1E3063"/>
                          </a:solidFill>
                        </a:rPr>
                        <a:t>Speedup:</a:t>
                      </a:r>
                      <a:r>
                        <a:rPr lang="en-US" sz="1300" dirty="0">
                          <a:solidFill>
                            <a:srgbClr val="1E3063"/>
                          </a:solidFill>
                        </a:rPr>
                        <a:t xml:space="preserve"> 10^14x faster</a:t>
                      </a:r>
                      <a:endParaRPr lang="en-US" sz="130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54405073"/>
                  </a:ext>
                </a:extLst>
              </a:tr>
            </a:tbl>
          </a:graphicData>
        </a:graphic>
      </p:graphicFrame>
      <p:sp>
        <p:nvSpPr>
          <p:cNvPr id="27" name="Text 2">
            <a:extLst>
              <a:ext uri="{FF2B5EF4-FFF2-40B4-BE49-F238E27FC236}">
                <a16:creationId xmlns:a16="http://schemas.microsoft.com/office/drawing/2014/main" id="{9F2782A8-3E42-E4F0-9A53-D9A46A94AA72}"/>
              </a:ext>
            </a:extLst>
          </p:cNvPr>
          <p:cNvSpPr/>
          <p:nvPr/>
        </p:nvSpPr>
        <p:spPr>
          <a:xfrm>
            <a:off x="501385" y="337496"/>
            <a:ext cx="11274978" cy="117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How Does Quantum Cryptography Differ From Classical</a:t>
            </a:r>
          </a:p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Cryptography?</a:t>
            </a:r>
            <a:endParaRPr lang="en-US" sz="3333" b="1" dirty="0">
              <a:solidFill>
                <a:schemeClr val="tx2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AC04EC6-0084-CE1F-66EF-1F3F022EE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895" y="1559039"/>
            <a:ext cx="3331516" cy="378650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1FA69DB-59EC-1A7C-02E5-2A9927E4553B}"/>
              </a:ext>
            </a:extLst>
          </p:cNvPr>
          <p:cNvSpPr txBox="1"/>
          <p:nvPr/>
        </p:nvSpPr>
        <p:spPr>
          <a:xfrm>
            <a:off x="8147895" y="5471423"/>
            <a:ext cx="333151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50" dirty="0"/>
              <a:t xml:space="preserve">Fig. 1: Willow Chip (2024/2025): The latest processor, Willow, surpassed previous benchmarks, demonstrating a 13,000x speedup in certain physics simulations over classical, state-of-the-art supercomputers. </a:t>
            </a:r>
            <a:endParaRPr lang="en-GB" sz="750" dirty="0"/>
          </a:p>
        </p:txBody>
      </p:sp>
    </p:spTree>
    <p:extLst>
      <p:ext uri="{BB962C8B-B14F-4D97-AF65-F5344CB8AC3E}">
        <p14:creationId xmlns:p14="http://schemas.microsoft.com/office/powerpoint/2010/main" val="387281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B6FD-B058-2017-67AC-F28ED970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18">
            <a:extLst>
              <a:ext uri="{FF2B5EF4-FFF2-40B4-BE49-F238E27FC236}">
                <a16:creationId xmlns:a16="http://schemas.microsoft.com/office/drawing/2014/main" id="{5ECD897F-7358-30FB-43D1-4C14DF47AC30}"/>
              </a:ext>
            </a:extLst>
          </p:cNvPr>
          <p:cNvSpPr/>
          <p:nvPr/>
        </p:nvSpPr>
        <p:spPr>
          <a:xfrm>
            <a:off x="337046" y="11333857"/>
            <a:ext cx="11517908" cy="1826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 sz="1333"/>
          </a:p>
        </p:txBody>
      </p:sp>
      <p:sp>
        <p:nvSpPr>
          <p:cNvPr id="155" name="Text 2">
            <a:extLst>
              <a:ext uri="{FF2B5EF4-FFF2-40B4-BE49-F238E27FC236}">
                <a16:creationId xmlns:a16="http://schemas.microsoft.com/office/drawing/2014/main" id="{F5FF77C9-897D-BA43-07E1-C064556E50F2}"/>
              </a:ext>
            </a:extLst>
          </p:cNvPr>
          <p:cNvSpPr/>
          <p:nvPr/>
        </p:nvSpPr>
        <p:spPr>
          <a:xfrm>
            <a:off x="425153" y="347265"/>
            <a:ext cx="10179050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bg2"/>
                </a:solidFill>
                <a:ea typeface="Instrument Sans Semi Bold" pitchFamily="34" charset="-122"/>
                <a:cs typeface="Instrument Sans Semi Bold" pitchFamily="34" charset="-120"/>
              </a:rPr>
              <a:t>Why Do We Need Quantum Cryptography Now?</a:t>
            </a:r>
            <a:endParaRPr lang="en-US" sz="3333" b="1" dirty="0">
              <a:solidFill>
                <a:schemeClr val="bg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B2B764-B7FA-16B8-C09C-0E35CCAEE8AA}"/>
              </a:ext>
            </a:extLst>
          </p:cNvPr>
          <p:cNvCxnSpPr>
            <a:cxnSpLocks/>
          </p:cNvCxnSpPr>
          <p:nvPr/>
        </p:nvCxnSpPr>
        <p:spPr>
          <a:xfrm>
            <a:off x="5969001" y="1309914"/>
            <a:ext cx="0" cy="4416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084A2DB-EA2E-385E-96D0-2835F0B4C8CD}"/>
              </a:ext>
            </a:extLst>
          </p:cNvPr>
          <p:cNvSpPr/>
          <p:nvPr/>
        </p:nvSpPr>
        <p:spPr>
          <a:xfrm>
            <a:off x="337047" y="1427072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67" b="1" dirty="0"/>
              <a:t>2022 - First Quantum-Secured Banking Transaction</a:t>
            </a:r>
          </a:p>
          <a:p>
            <a:pPr algn="r"/>
            <a:r>
              <a:rPr lang="en-US" sz="1167" i="1" dirty="0"/>
              <a:t>Santander Bank: Spain → South America. QKD-secured international wire transfer. Proof of concept for production use.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D3CB535-495B-7D6F-6BC1-E7259246D41E}"/>
              </a:ext>
            </a:extLst>
          </p:cNvPr>
          <p:cNvSpPr/>
          <p:nvPr/>
        </p:nvSpPr>
        <p:spPr>
          <a:xfrm>
            <a:off x="337047" y="2487418"/>
            <a:ext cx="5177629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167" b="1" dirty="0"/>
              <a:t>2024 (CURRENT)</a:t>
            </a:r>
          </a:p>
          <a:p>
            <a:pPr algn="r"/>
            <a:r>
              <a:rPr lang="en-GB" sz="1167" i="1" dirty="0"/>
              <a:t xml:space="preserve">NIST publishes final PQC standards (August 2024). China: 10,000+ km quantum network operational. Europe: €1B </a:t>
            </a:r>
            <a:r>
              <a:rPr lang="en-GB" sz="1167" i="1" dirty="0" err="1"/>
              <a:t>EuroQCI</a:t>
            </a:r>
            <a:r>
              <a:rPr lang="en-GB" sz="1167" i="1" dirty="0"/>
              <a:t xml:space="preserve"> investment. Organizations MUST begin migration</a:t>
            </a:r>
            <a:r>
              <a:rPr lang="en-GB" sz="1167" dirty="0"/>
              <a:t>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5C81A3-B0F0-80E0-BB3E-21A36044C330}"/>
              </a:ext>
            </a:extLst>
          </p:cNvPr>
          <p:cNvSpPr/>
          <p:nvPr/>
        </p:nvSpPr>
        <p:spPr>
          <a:xfrm>
            <a:off x="337047" y="3486241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167" b="1" dirty="0"/>
              <a:t>2026 - CRITICAL DECISION POINT ⚠️ (Projected)</a:t>
            </a:r>
          </a:p>
          <a:p>
            <a:pPr algn="r"/>
            <a:r>
              <a:rPr lang="en-US" sz="1167" i="1" dirty="0"/>
              <a:t>~5,000 qubit systems demonstrated. "Harvest Now, Decrypt Later" intensifies. Data encrypted in 2026 vulnerable by 2036. SC MUST act - last comfortable window.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00D65C2-A2D3-84E3-24FD-9CBD4A0FB673}"/>
              </a:ext>
            </a:extLst>
          </p:cNvPr>
          <p:cNvSpPr/>
          <p:nvPr/>
        </p:nvSpPr>
        <p:spPr>
          <a:xfrm>
            <a:off x="290871" y="4588879"/>
            <a:ext cx="5177631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GB" sz="1167" b="1" dirty="0"/>
              <a:t>2030-2033 - Cryptographically Relevant Quantum Computer</a:t>
            </a:r>
          </a:p>
          <a:p>
            <a:pPr algn="r"/>
            <a:r>
              <a:rPr lang="en-US" sz="1167" i="1" dirty="0"/>
              <a:t>1 million+ qubits with error correction. Break RSA-2048, ECDSA in hours. All classical cryptography obsolete.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6EF156-421B-BCDB-C502-D0F0D685D89C}"/>
              </a:ext>
            </a:extLst>
          </p:cNvPr>
          <p:cNvSpPr/>
          <p:nvPr/>
        </p:nvSpPr>
        <p:spPr>
          <a:xfrm>
            <a:off x="6434871" y="4803182"/>
            <a:ext cx="5454719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2035+ - Universal Vulnerability</a:t>
            </a:r>
          </a:p>
          <a:p>
            <a:r>
              <a:rPr lang="en-US" sz="1167" i="1" dirty="0"/>
              <a:t>Quantum computing ubiquitous. If we prepared: ✓ Secure, industry leader. If we delayed: ✗ Crisis mode, billions in losses.</a:t>
            </a:r>
            <a:endParaRPr lang="en-GB" sz="1167" i="1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7F909ED-2BC5-E080-CC29-E5DEDA0A00A5}"/>
              </a:ext>
            </a:extLst>
          </p:cNvPr>
          <p:cNvSpPr/>
          <p:nvPr/>
        </p:nvSpPr>
        <p:spPr>
          <a:xfrm>
            <a:off x="6411774" y="3721333"/>
            <a:ext cx="5454726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2028-2029 - Early Quantum Threat</a:t>
            </a:r>
          </a:p>
          <a:p>
            <a:r>
              <a:rPr lang="en-US" sz="1167" i="1" dirty="0"/>
              <a:t>~10,000-50,000 qubits. Can break RSA-1024 reliably. RSA-2048 at risk from well-funded adversaries.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33845D9-AB44-920F-CFD8-7C4E91A8DDC5}"/>
              </a:ext>
            </a:extLst>
          </p:cNvPr>
          <p:cNvSpPr/>
          <p:nvPr/>
        </p:nvSpPr>
        <p:spPr>
          <a:xfrm>
            <a:off x="6400228" y="2742540"/>
            <a:ext cx="5454725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67" b="1" dirty="0"/>
              <a:t>2025 - Regulatory Mandates Begin (Projected)</a:t>
            </a:r>
          </a:p>
          <a:p>
            <a:r>
              <a:rPr lang="en-US" sz="1167" i="1" dirty="0"/>
              <a:t>EU Cybersecurity Act amendments. Financial institutions assess quantum vulnerability. Compliance deadlines approaching.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5A9EE17-AE2A-DDE8-84F7-7C1A18432DA6}"/>
              </a:ext>
            </a:extLst>
          </p:cNvPr>
          <p:cNvSpPr/>
          <p:nvPr/>
        </p:nvSpPr>
        <p:spPr>
          <a:xfrm>
            <a:off x="6434870" y="1690914"/>
            <a:ext cx="5454720" cy="762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67" b="1" dirty="0"/>
              <a:t>2023 - 1,000+ Qubit Milestone</a:t>
            </a:r>
          </a:p>
          <a:p>
            <a:r>
              <a:rPr lang="en-US" sz="1167" i="1" dirty="0"/>
              <a:t>IBM Condor: 1,121 qubits. NIST announces PQC standard winners. 10x increase from 2019.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922264-F2D3-B99F-2E8B-611953FD5BED}"/>
              </a:ext>
            </a:extLst>
          </p:cNvPr>
          <p:cNvCxnSpPr>
            <a:cxnSpLocks/>
          </p:cNvCxnSpPr>
          <p:nvPr/>
        </p:nvCxnSpPr>
        <p:spPr>
          <a:xfrm flipV="1">
            <a:off x="5526224" y="1817914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69F10A9-FA8F-84A0-042F-B3C3D47C5A98}"/>
              </a:ext>
            </a:extLst>
          </p:cNvPr>
          <p:cNvCxnSpPr/>
          <p:nvPr/>
        </p:nvCxnSpPr>
        <p:spPr>
          <a:xfrm flipV="1">
            <a:off x="5968996" y="2071914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E1147FD-4E11-C08B-DE6E-38B9F56FC3AD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5468502" y="4969879"/>
            <a:ext cx="4427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31D1CC-AA51-C205-01A5-0AE7C7304C25}"/>
              </a:ext>
            </a:extLst>
          </p:cNvPr>
          <p:cNvCxnSpPr/>
          <p:nvPr/>
        </p:nvCxnSpPr>
        <p:spPr>
          <a:xfrm flipV="1">
            <a:off x="5526222" y="3884551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F5C60A-1AF6-F03B-E2C3-528EB9F325F4}"/>
              </a:ext>
            </a:extLst>
          </p:cNvPr>
          <p:cNvCxnSpPr/>
          <p:nvPr/>
        </p:nvCxnSpPr>
        <p:spPr>
          <a:xfrm flipV="1">
            <a:off x="5526224" y="2845459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5B85F83-E05A-4D1E-EF4C-2972F4D5BD44}"/>
              </a:ext>
            </a:extLst>
          </p:cNvPr>
          <p:cNvCxnSpPr/>
          <p:nvPr/>
        </p:nvCxnSpPr>
        <p:spPr>
          <a:xfrm flipV="1">
            <a:off x="5976497" y="3076369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03A517A-1241-F07F-31F5-8E34449E8036}"/>
              </a:ext>
            </a:extLst>
          </p:cNvPr>
          <p:cNvCxnSpPr/>
          <p:nvPr/>
        </p:nvCxnSpPr>
        <p:spPr>
          <a:xfrm flipV="1">
            <a:off x="5976497" y="4115460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EA2DE5B-FB11-E32C-447C-665377D7556F}"/>
              </a:ext>
            </a:extLst>
          </p:cNvPr>
          <p:cNvCxnSpPr/>
          <p:nvPr/>
        </p:nvCxnSpPr>
        <p:spPr>
          <a:xfrm flipV="1">
            <a:off x="5968996" y="5177642"/>
            <a:ext cx="442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BAA0FC00-DC06-276B-4442-38AF306EF573}"/>
              </a:ext>
            </a:extLst>
          </p:cNvPr>
          <p:cNvSpPr/>
          <p:nvPr/>
        </p:nvSpPr>
        <p:spPr>
          <a:xfrm>
            <a:off x="5899728" y="1748642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F9FD368-D66B-9B72-EA01-0A1364CA9CF6}"/>
              </a:ext>
            </a:extLst>
          </p:cNvPr>
          <p:cNvSpPr/>
          <p:nvPr/>
        </p:nvSpPr>
        <p:spPr>
          <a:xfrm>
            <a:off x="5911274" y="2025888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4BA0C80-7013-2DE6-CFF9-995FC3ADA269}"/>
              </a:ext>
            </a:extLst>
          </p:cNvPr>
          <p:cNvSpPr/>
          <p:nvPr/>
        </p:nvSpPr>
        <p:spPr>
          <a:xfrm>
            <a:off x="5911274" y="2776879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0148D9A-5613-A4C8-DE0C-D3958F537C5F}"/>
              </a:ext>
            </a:extLst>
          </p:cNvPr>
          <p:cNvSpPr/>
          <p:nvPr/>
        </p:nvSpPr>
        <p:spPr>
          <a:xfrm>
            <a:off x="5911274" y="3042426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5A8556-03AB-0FB0-4622-32979B9982BB}"/>
              </a:ext>
            </a:extLst>
          </p:cNvPr>
          <p:cNvSpPr/>
          <p:nvPr/>
        </p:nvSpPr>
        <p:spPr>
          <a:xfrm>
            <a:off x="5899728" y="3791684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EB2FEF5-FD99-C243-6E8A-D98096421EAB}"/>
              </a:ext>
            </a:extLst>
          </p:cNvPr>
          <p:cNvSpPr/>
          <p:nvPr/>
        </p:nvSpPr>
        <p:spPr>
          <a:xfrm>
            <a:off x="5911274" y="4046106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280A7F9-988E-EA84-73F9-49908D4636FA}"/>
              </a:ext>
            </a:extLst>
          </p:cNvPr>
          <p:cNvSpPr/>
          <p:nvPr/>
        </p:nvSpPr>
        <p:spPr>
          <a:xfrm>
            <a:off x="5899728" y="4901242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13A8E99-6502-FA22-4E68-FB29C2A4D1E0}"/>
              </a:ext>
            </a:extLst>
          </p:cNvPr>
          <p:cNvSpPr/>
          <p:nvPr/>
        </p:nvSpPr>
        <p:spPr>
          <a:xfrm>
            <a:off x="5899728" y="5096788"/>
            <a:ext cx="138545" cy="13716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87D980-A9E4-055E-10D2-CD739CB1009F}"/>
              </a:ext>
            </a:extLst>
          </p:cNvPr>
          <p:cNvSpPr txBox="1"/>
          <p:nvPr/>
        </p:nvSpPr>
        <p:spPr>
          <a:xfrm>
            <a:off x="425152" y="912035"/>
            <a:ext cx="3624710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50" dirty="0">
                <a:solidFill>
                  <a:schemeClr val="bg2"/>
                </a:solidFill>
              </a:rPr>
              <a:t>Timeline (2019-Future)</a:t>
            </a:r>
          </a:p>
        </p:txBody>
      </p:sp>
    </p:spTree>
    <p:extLst>
      <p:ext uri="{BB962C8B-B14F-4D97-AF65-F5344CB8AC3E}">
        <p14:creationId xmlns:p14="http://schemas.microsoft.com/office/powerpoint/2010/main" val="181898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4EA858BF-F6F3-BFB5-3898-CEB0B2DC51C2}"/>
              </a:ext>
            </a:extLst>
          </p:cNvPr>
          <p:cNvSpPr/>
          <p:nvPr/>
        </p:nvSpPr>
        <p:spPr>
          <a:xfrm>
            <a:off x="425153" y="347265"/>
            <a:ext cx="10179050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rgbClr val="091C53"/>
                </a:solidFill>
                <a:ea typeface="Instrument Sans Semi Bold" pitchFamily="34" charset="-122"/>
                <a:cs typeface="Instrument Sans Semi Bold" pitchFamily="34" charset="-120"/>
              </a:rPr>
              <a:t>Why Do We Need Quantum Cryptography Now?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141BC-6087-A65B-4E4E-242C31566DE2}"/>
              </a:ext>
            </a:extLst>
          </p:cNvPr>
          <p:cNvSpPr txBox="1"/>
          <p:nvPr/>
        </p:nvSpPr>
        <p:spPr>
          <a:xfrm>
            <a:off x="425153" y="981363"/>
            <a:ext cx="4372864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50" b="1" dirty="0"/>
              <a:t>Types of Quantum Attacks</a:t>
            </a:r>
            <a:endParaRPr lang="en-GB" sz="275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5AD2B7-33B9-5BE3-CBD9-6218624CAEAF}"/>
              </a:ext>
            </a:extLst>
          </p:cNvPr>
          <p:cNvSpPr/>
          <p:nvPr/>
        </p:nvSpPr>
        <p:spPr>
          <a:xfrm>
            <a:off x="459406" y="1625662"/>
            <a:ext cx="7518503" cy="25347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ATTACK 1: Harvest Now, Decrypt Later (HNDL)</a:t>
            </a:r>
          </a:p>
          <a:p>
            <a:r>
              <a:rPr lang="en-US" sz="1333" dirty="0"/>
              <a:t>Method: Store encrypted data today, decrypt with future quantum computers</a:t>
            </a:r>
          </a:p>
          <a:p>
            <a:r>
              <a:rPr lang="en-US" sz="1333" dirty="0"/>
              <a:t xml:space="preserve">Target: 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SSNs, birth dates (identity markers for life)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Biometric data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Strategic business decisions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M&amp;A discussions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Intellectual property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5A5BA9-31BB-8ABA-901D-B4297F6F3B2E}"/>
              </a:ext>
            </a:extLst>
          </p:cNvPr>
          <p:cNvSpPr/>
          <p:nvPr/>
        </p:nvSpPr>
        <p:spPr>
          <a:xfrm>
            <a:off x="8093364" y="1625663"/>
            <a:ext cx="3382013" cy="253476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2: Shor's Algorithm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2030-2035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RSA, ECDSA, Diffie-Hellman - basically everything we use for public-key crypto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A2246D-98DD-1A7E-D6D1-917490E2C8F1}"/>
              </a:ext>
            </a:extLst>
          </p:cNvPr>
          <p:cNvSpPr/>
          <p:nvPr/>
        </p:nvSpPr>
        <p:spPr>
          <a:xfrm>
            <a:off x="8046377" y="4350102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5: Quantum MITM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Real-time decryption and impersonation during live sessions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0F6345-EA9F-57CD-2E03-77EB842194BE}"/>
              </a:ext>
            </a:extLst>
          </p:cNvPr>
          <p:cNvSpPr/>
          <p:nvPr/>
        </p:nvSpPr>
        <p:spPr>
          <a:xfrm>
            <a:off x="4264993" y="4350102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4: Quantum Side-Channel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Emerging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2028+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Exploit physical implementation weaknesses using quantum sensors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79CC0-B31D-D843-7C80-86E2360A4DBC}"/>
              </a:ext>
            </a:extLst>
          </p:cNvPr>
          <p:cNvSpPr/>
          <p:nvPr/>
        </p:nvSpPr>
        <p:spPr>
          <a:xfrm>
            <a:off x="483611" y="4334007"/>
            <a:ext cx="3429000" cy="16175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333" b="1" dirty="0"/>
              <a:t>ATTACK 3: Grover's Algorithm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Status: Future threat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Timeline: 2030+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What it breaks: Makes AES-128 VULNERABLE</a:t>
            </a:r>
          </a:p>
        </p:txBody>
      </p:sp>
    </p:spTree>
    <p:extLst>
      <p:ext uri="{BB962C8B-B14F-4D97-AF65-F5344CB8AC3E}">
        <p14:creationId xmlns:p14="http://schemas.microsoft.com/office/powerpoint/2010/main" val="289084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B024-40CC-CF1D-512F-FD76B79C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242267-4F57-F0C9-1E32-30D9EA43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GB" sz="3333" b="1" dirty="0">
                <a:latin typeface="+mn-lt"/>
              </a:rPr>
              <a:t>What Happens If We Don’t Act?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29A496FB-E478-C27A-FF57-0962C36A506E}"/>
              </a:ext>
            </a:extLst>
          </p:cNvPr>
          <p:cNvGraphicFramePr>
            <a:graphicFrameLocks noGrp="1"/>
          </p:cNvGraphicFramePr>
          <p:nvPr/>
        </p:nvGraphicFramePr>
        <p:xfrm>
          <a:off x="307974" y="1986344"/>
          <a:ext cx="11576050" cy="1546964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5788025">
                  <a:extLst>
                    <a:ext uri="{9D8B030D-6E8A-4147-A177-3AD203B41FA5}">
                      <a16:colId xmlns:a16="http://schemas.microsoft.com/office/drawing/2014/main" val="734328077"/>
                    </a:ext>
                  </a:extLst>
                </a:gridCol>
                <a:gridCol w="5788025">
                  <a:extLst>
                    <a:ext uri="{9D8B030D-6E8A-4147-A177-3AD203B41FA5}">
                      <a16:colId xmlns:a16="http://schemas.microsoft.com/office/drawing/2014/main" val="2999667059"/>
                    </a:ext>
                  </a:extLst>
                </a:gridCol>
              </a:tblGrid>
              <a:tr h="1546964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Classical Cryptography (Current System)</a:t>
                      </a:r>
                    </a:p>
                    <a:p>
                      <a:pPr algn="l"/>
                      <a:r>
                        <a:rPr lang="en-US" sz="1300" b="0" i="1" dirty="0"/>
                        <a:t>Customer Phone -&gt; TLS 1.2 Connection -&gt; Bank Server (Password) (RSA-2048 encryption) (Verifies)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 xml:space="preserve">Problem: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Quantum computer could break RSA encryption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1" dirty="0"/>
                        <a:t>Quantum Cryptography (Future System)</a:t>
                      </a:r>
                    </a:p>
                    <a:p>
                      <a:pPr algn="l"/>
                      <a:r>
                        <a:rPr lang="en-GB" sz="1300" b="0" i="1" dirty="0"/>
                        <a:t>Customer Phone -&gt; Quantum-Safe TLS -&gt; Bank Server (Password) (PQC: Kyber algorithm) (Verifies) + Quantum key</a:t>
                      </a:r>
                    </a:p>
                    <a:p>
                      <a:pPr algn="l"/>
                      <a:r>
                        <a:rPr lang="en-US" sz="1300" b="0" i="1" dirty="0"/>
                        <a:t>Benefit: Cannot be broken by quantum computers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 xml:space="preserve">Customer Experience: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The same! They won't notice any difference.</a:t>
                      </a:r>
                      <a:endParaRPr lang="en-GB" sz="1300" b="0" dirty="0">
                        <a:solidFill>
                          <a:srgbClr val="FFFF00"/>
                        </a:solidFill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65554"/>
                  </a:ext>
                </a:extLst>
              </a:tr>
            </a:tbl>
          </a:graphicData>
        </a:graphic>
      </p:graphicFrame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2BD31605-5039-17D2-4BDF-525996310835}"/>
              </a:ext>
            </a:extLst>
          </p:cNvPr>
          <p:cNvSpPr txBox="1">
            <a:spLocks/>
          </p:cNvSpPr>
          <p:nvPr/>
        </p:nvSpPr>
        <p:spPr>
          <a:xfrm>
            <a:off x="324373" y="1630961"/>
            <a:ext cx="5107140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Scenario 1: Customer Login to Mobile Banking</a:t>
            </a:r>
            <a:endParaRPr lang="en-GB" sz="1500" b="1" dirty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AA59C0BE-BAF6-6910-393A-645C9849B4CF}"/>
              </a:ext>
            </a:extLst>
          </p:cNvPr>
          <p:cNvSpPr txBox="1">
            <a:spLocks/>
          </p:cNvSpPr>
          <p:nvPr/>
        </p:nvSpPr>
        <p:spPr>
          <a:xfrm>
            <a:off x="324372" y="4046492"/>
            <a:ext cx="8743662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Scenario 2: Data in Motion – SWIFT Payment for International Wire Transfer</a:t>
            </a:r>
            <a:endParaRPr lang="en-GB" sz="1500" b="1" dirty="0"/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88DB7135-8E0C-0CA4-EE79-C4099A96A6E9}"/>
              </a:ext>
            </a:extLst>
          </p:cNvPr>
          <p:cNvGraphicFramePr>
            <a:graphicFrameLocks noGrp="1"/>
          </p:cNvGraphicFramePr>
          <p:nvPr/>
        </p:nvGraphicFramePr>
        <p:xfrm>
          <a:off x="307972" y="4457486"/>
          <a:ext cx="11576052" cy="14935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788026">
                  <a:extLst>
                    <a:ext uri="{9D8B030D-6E8A-4147-A177-3AD203B41FA5}">
                      <a16:colId xmlns:a16="http://schemas.microsoft.com/office/drawing/2014/main" val="734328077"/>
                    </a:ext>
                  </a:extLst>
                </a:gridCol>
                <a:gridCol w="5788026">
                  <a:extLst>
                    <a:ext uri="{9D8B030D-6E8A-4147-A177-3AD203B41FA5}">
                      <a16:colId xmlns:a16="http://schemas.microsoft.com/office/drawing/2014/main" val="2999667059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/>
                        <a:t>Classical Cryptography (Current System)</a:t>
                      </a:r>
                    </a:p>
                    <a:p>
                      <a:pPr algn="l"/>
                      <a:r>
                        <a:rPr lang="en-US" sz="1300" b="0" i="1" dirty="0"/>
                        <a:t>Branch A-&gt; TLS 1.3 + RSA -&gt; Branch B  ($10M wire) (encrypted) (receives)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 xml:space="preserve">Vulnerability: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Quantum computer could decrypt message later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300" b="1" dirty="0"/>
                        <a:t>Quantum Cryptography (Future System)</a:t>
                      </a:r>
                    </a:p>
                    <a:p>
                      <a:pPr algn="l"/>
                      <a:r>
                        <a:rPr lang="en-GB" sz="1300" b="0" i="1" dirty="0"/>
                        <a:t xml:space="preserve">Branch  A-&gt; Quantum-Safe Channel </a:t>
                      </a:r>
                      <a:r>
                        <a:rPr lang="en-GB" sz="1300" b="0" i="1"/>
                        <a:t>-&gt; Branch  B ($</a:t>
                      </a:r>
                      <a:r>
                        <a:rPr lang="en-GB" sz="1300" b="0" i="1" dirty="0"/>
                        <a:t>10M wire) (PQC + QKD keys) (receives)</a:t>
                      </a:r>
                    </a:p>
                    <a:p>
                      <a:pPr algn="l"/>
                      <a:r>
                        <a:rPr lang="en-US" sz="1300" b="0" i="1" dirty="0"/>
                        <a:t xml:space="preserve">Real-World Case Study: Santander Bank (Spain): First quantum-secured international payment (2022). </a:t>
                      </a:r>
                    </a:p>
                    <a:p>
                      <a:pPr algn="l"/>
                      <a:r>
                        <a:rPr lang="en-US" sz="1300" b="1" dirty="0">
                          <a:solidFill>
                            <a:srgbClr val="FFFF00"/>
                          </a:solidFill>
                        </a:rPr>
                        <a:t xml:space="preserve">Result: </a:t>
                      </a:r>
                      <a:r>
                        <a:rPr lang="en-US" sz="1300" b="0" dirty="0">
                          <a:solidFill>
                            <a:srgbClr val="FFFF00"/>
                          </a:solidFill>
                        </a:rPr>
                        <a:t>Zero successful interceptions, instant detection of attempts</a:t>
                      </a:r>
                      <a:endParaRPr lang="en-GB" sz="1300" b="0" dirty="0">
                        <a:solidFill>
                          <a:srgbClr val="FFFF00"/>
                        </a:solidFill>
                      </a:endParaRP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65554"/>
                  </a:ext>
                </a:extLst>
              </a:tr>
            </a:tbl>
          </a:graphicData>
        </a:graphic>
      </p:graphicFrame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DF8724C-F368-0925-B37B-B836AEF61829}"/>
              </a:ext>
            </a:extLst>
          </p:cNvPr>
          <p:cNvSpPr txBox="1">
            <a:spLocks/>
          </p:cNvSpPr>
          <p:nvPr/>
        </p:nvSpPr>
        <p:spPr>
          <a:xfrm>
            <a:off x="307974" y="906994"/>
            <a:ext cx="10002116" cy="423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750" b="1" dirty="0"/>
              <a:t>Real-Life Implementation: Classical vs Quantum</a:t>
            </a:r>
            <a:endParaRPr lang="en-GB" sz="2750" b="1" dirty="0"/>
          </a:p>
        </p:txBody>
      </p:sp>
    </p:spTree>
    <p:extLst>
      <p:ext uri="{BB962C8B-B14F-4D97-AF65-F5344CB8AC3E}">
        <p14:creationId xmlns:p14="http://schemas.microsoft.com/office/powerpoint/2010/main" val="130527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D3CF3-BD10-FC64-9ACA-983E5FFB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75" y="1089546"/>
            <a:ext cx="5711825" cy="295909"/>
          </a:xfrm>
        </p:spPr>
        <p:txBody>
          <a:bodyPr>
            <a:normAutofit lnSpcReduction="10000"/>
          </a:bodyPr>
          <a:lstStyle/>
          <a:p>
            <a:r>
              <a:rPr lang="en-US" sz="1500" b="1" dirty="0"/>
              <a:t>Internal Teams (We Build and Operate)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DFC547-A1A6-F5B1-A2DE-75E2AF4C10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28363" y="2708152"/>
            <a:ext cx="3155662" cy="2267715"/>
          </a:xfrm>
        </p:spPr>
        <p:txBody>
          <a:bodyPr/>
          <a:lstStyle/>
          <a:p>
            <a:r>
              <a:rPr lang="en-US" sz="1500" b="1" dirty="0"/>
              <a:t>External Vendors</a:t>
            </a:r>
          </a:p>
          <a:p>
            <a:pPr marL="285739" indent="-285739">
              <a:buAutoNum type="arabicPeriod"/>
            </a:pPr>
            <a:r>
              <a:rPr lang="en-GB" sz="1333" b="1" dirty="0"/>
              <a:t>AWS BRAKET</a:t>
            </a:r>
          </a:p>
          <a:p>
            <a:pPr marL="285739" indent="-285739">
              <a:buAutoNum type="arabicPeriod"/>
            </a:pPr>
            <a:r>
              <a:rPr lang="fr-FR" sz="1333" b="1" dirty="0"/>
              <a:t>ID QUANTIQUE (QKD Hardware)</a:t>
            </a:r>
          </a:p>
          <a:p>
            <a:pPr marL="285739" indent="-285739">
              <a:buAutoNum type="arabicPeriod"/>
            </a:pPr>
            <a:r>
              <a:rPr lang="fr-FR" sz="1333" b="1" dirty="0"/>
              <a:t>PQSHIELD (PQC Specialists)</a:t>
            </a:r>
          </a:p>
          <a:p>
            <a:pPr marL="285739" indent="-285739">
              <a:buAutoNum type="arabicPeriod"/>
            </a:pPr>
            <a:r>
              <a:rPr lang="fr-FR" sz="1333" b="1" dirty="0"/>
              <a:t>QUINTESSENCELABS (Quantum RNG)</a:t>
            </a:r>
          </a:p>
          <a:p>
            <a:pPr marL="285739" indent="-285739">
              <a:buAutoNum type="arabicPeriod"/>
            </a:pPr>
            <a:endParaRPr lang="fr-FR" sz="1500" b="1" dirty="0"/>
          </a:p>
          <a:p>
            <a:pPr marL="285739" indent="-285739">
              <a:buAutoNum type="arabicPeriod"/>
            </a:pPr>
            <a:endParaRPr lang="en-GB" sz="1500" b="1" dirty="0"/>
          </a:p>
          <a:p>
            <a:endParaRPr lang="en-GB" sz="15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F7BF44-59D4-4A0E-85D3-FBBC0A0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GB" sz="3333" b="1" dirty="0">
                <a:latin typeface="+mn-lt"/>
              </a:rPr>
              <a:t>Who Will Make This Happen?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4AA6D3-EA84-DCE4-0ED7-C4850E8DAECA}"/>
              </a:ext>
            </a:extLst>
          </p:cNvPr>
          <p:cNvGraphicFramePr>
            <a:graphicFrameLocks noGrp="1"/>
          </p:cNvGraphicFramePr>
          <p:nvPr/>
        </p:nvGraphicFramePr>
        <p:xfrm>
          <a:off x="307974" y="1507202"/>
          <a:ext cx="8224116" cy="466961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112058">
                  <a:extLst>
                    <a:ext uri="{9D8B030D-6E8A-4147-A177-3AD203B41FA5}">
                      <a16:colId xmlns:a16="http://schemas.microsoft.com/office/drawing/2014/main" val="935749178"/>
                    </a:ext>
                  </a:extLst>
                </a:gridCol>
                <a:gridCol w="4112058">
                  <a:extLst>
                    <a:ext uri="{9D8B030D-6E8A-4147-A177-3AD203B41FA5}">
                      <a16:colId xmlns:a16="http://schemas.microsoft.com/office/drawing/2014/main" val="3150851271"/>
                    </a:ext>
                  </a:extLst>
                </a:gridCol>
              </a:tblGrid>
              <a:tr h="2444682">
                <a:tc>
                  <a:txBody>
                    <a:bodyPr/>
                    <a:lstStyle/>
                    <a:p>
                      <a:pPr algn="just"/>
                      <a:r>
                        <a:rPr lang="en-US" sz="1300" b="1" dirty="0"/>
                        <a:t>1. Cybersecurity Team (Lead)</a:t>
                      </a:r>
                    </a:p>
                    <a:p>
                      <a:pPr algn="just"/>
                      <a:r>
                        <a:rPr lang="en-US" sz="1300" b="0" dirty="0"/>
                        <a:t>Role: Overall strategy and governance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Set quantum security policies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Risk assessment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Vendor management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Compliance oversight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300" b="1" dirty="0"/>
                        <a:t>2. Network Infrastructure Team</a:t>
                      </a:r>
                    </a:p>
                    <a:p>
                      <a:pPr algn="just"/>
                      <a:r>
                        <a:rPr lang="en-GB" sz="1300" b="0" dirty="0"/>
                        <a:t>Role: Deploy quantum hardware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Install QKD devices between data centers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Manage quantum channels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Monitor network performance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dirty="0"/>
                        <a:t>Troubleshoot connectivity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98112933"/>
                  </a:ext>
                </a:extLst>
              </a:tr>
              <a:tr h="2224934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1" noProof="0" dirty="0">
                          <a:solidFill>
                            <a:schemeClr val="tx1"/>
                          </a:solidFill>
                        </a:rPr>
                        <a:t>3. Application Security Team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Role: Implement PQC in applications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Update all apps to use quantum-safe algorithms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Test compatibility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Manage crypto libraries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Code reviews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1" noProof="0" dirty="0">
                          <a:solidFill>
                            <a:schemeClr val="tx1"/>
                          </a:solidFill>
                        </a:rPr>
                        <a:t>4. Key Management Team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Role: Manage quantum keys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Operate quantum key management systems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Key rotation and lifecycle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Integration with HSMs</a:t>
                      </a:r>
                    </a:p>
                    <a:p>
                      <a:pPr marL="171450" indent="-171450" algn="jus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noProof="0" dirty="0">
                          <a:solidFill>
                            <a:schemeClr val="tx1"/>
                          </a:solidFill>
                        </a:rPr>
                        <a:t>Audit logs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22918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11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CE91-1506-34F5-532E-6D4EADCF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US" sz="3333" b="1" dirty="0">
                <a:latin typeface="+mn-lt"/>
              </a:rPr>
              <a:t>What Should Internal Audit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8A5D-796C-053D-0A5F-04608C73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068389"/>
            <a:ext cx="5711825" cy="3620649"/>
          </a:xfrm>
        </p:spPr>
        <p:txBody>
          <a:bodyPr>
            <a:normAutofit lnSpcReduction="10000"/>
          </a:bodyPr>
          <a:lstStyle/>
          <a:p>
            <a:r>
              <a:rPr lang="en-GB" sz="1333" b="1" dirty="0"/>
              <a:t>THE THREAT</a:t>
            </a:r>
          </a:p>
          <a:p>
            <a:r>
              <a:rPr lang="en-US" sz="1333" b="1" dirty="0"/>
              <a:t>What is Q-Day?</a:t>
            </a:r>
          </a:p>
          <a:p>
            <a:pPr marL="238115" indent="-238115"/>
            <a:r>
              <a:rPr lang="en-US" sz="1333" dirty="0"/>
              <a:t>Point when quantum computers can break RSA and ECC encryption</a:t>
            </a:r>
          </a:p>
          <a:p>
            <a:pPr marL="238115" indent="-238115"/>
            <a:r>
              <a:rPr lang="en-US" sz="1333" dirty="0"/>
              <a:t>Timeline: Experts predict 3-15 years (could be sooner)</a:t>
            </a:r>
          </a:p>
          <a:p>
            <a:pPr marL="238115" indent="-238115"/>
            <a:r>
              <a:rPr lang="en-US" sz="1333" dirty="0"/>
              <a:t>Current consensus: Significant risk within decade</a:t>
            </a:r>
          </a:p>
          <a:p>
            <a:endParaRPr lang="en-US" sz="1333" dirty="0"/>
          </a:p>
          <a:p>
            <a:r>
              <a:rPr lang="en-US" sz="1333" b="1" dirty="0"/>
              <a:t>Regulatory Momentum (Not Optional):</a:t>
            </a:r>
          </a:p>
          <a:p>
            <a:pPr marL="238115" indent="-238115"/>
            <a:r>
              <a:rPr lang="en-US" sz="1333" dirty="0"/>
              <a:t>SEC: Quantum risk now cybersecurity disclosure requirement</a:t>
            </a:r>
          </a:p>
          <a:p>
            <a:pPr marL="238115" indent="-238115"/>
            <a:r>
              <a:rPr lang="en-US" sz="1333" dirty="0"/>
              <a:t>Federal Reserve: Expects banks to assess quantum computing threats</a:t>
            </a:r>
          </a:p>
          <a:p>
            <a:pPr marL="238115" indent="-238115"/>
            <a:r>
              <a:rPr lang="en-US" sz="1333" dirty="0"/>
              <a:t>EU NIS2: Mandates quantum readiness for critical financial infrastructure</a:t>
            </a:r>
          </a:p>
          <a:p>
            <a:pPr marL="238115" indent="-238115"/>
            <a:r>
              <a:rPr lang="en-US" sz="1333" dirty="0"/>
              <a:t>Executive Order (Jan 2025): Federal agencies must migrate by 2035; private sector expected to follow</a:t>
            </a:r>
            <a:endParaRPr lang="en-GB" sz="1333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FD75A-811A-6762-5150-48187FE45C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201" y="1068389"/>
            <a:ext cx="5711824" cy="1835973"/>
          </a:xfrm>
        </p:spPr>
        <p:txBody>
          <a:bodyPr>
            <a:normAutofit fontScale="92500"/>
          </a:bodyPr>
          <a:lstStyle/>
          <a:p>
            <a:r>
              <a:rPr lang="en-GB" sz="1500" b="1" dirty="0"/>
              <a:t>WHAT'S AT STAKE</a:t>
            </a:r>
          </a:p>
          <a:p>
            <a:r>
              <a:rPr lang="en-US" sz="1333" b="1" dirty="0"/>
              <a:t>Scale of Risk at Standard Chartered:</a:t>
            </a:r>
          </a:p>
          <a:p>
            <a:pPr marL="238115" indent="-238115"/>
            <a:r>
              <a:rPr lang="en-US" sz="1333" dirty="0"/>
              <a:t>Massive daily transaction volume  (authentication vulnerable)</a:t>
            </a:r>
          </a:p>
          <a:p>
            <a:pPr marL="238115" indent="-238115"/>
            <a:r>
              <a:rPr lang="en-US" sz="1333" dirty="0"/>
              <a:t>15-year mortgage data retention (permanently at risk if encrypted classically)</a:t>
            </a:r>
          </a:p>
          <a:p>
            <a:pPr marL="238115" indent="-238115"/>
            <a:r>
              <a:rPr lang="en-US" sz="1333" dirty="0"/>
              <a:t>Customer PII in archives (regulatory liability if decrypted)</a:t>
            </a:r>
          </a:p>
          <a:p>
            <a:pPr marL="238115" indent="-238115"/>
            <a:r>
              <a:rPr lang="en-US" sz="1333" dirty="0"/>
              <a:t>Payment settlement systems (operational resilience)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3D704D-97C2-E3A5-AA30-218FA0C5A5E4}"/>
              </a:ext>
            </a:extLst>
          </p:cNvPr>
          <p:cNvSpPr/>
          <p:nvPr/>
        </p:nvSpPr>
        <p:spPr>
          <a:xfrm>
            <a:off x="6172200" y="3175650"/>
            <a:ext cx="5711825" cy="26139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CALL TO ACTION</a:t>
            </a:r>
          </a:p>
          <a:p>
            <a:r>
              <a:rPr lang="en-US" sz="1333" b="1" dirty="0"/>
              <a:t>Internal Audit Must: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Assess cryptographic inventory NOW (while still time for gradual migration)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Identify highest-risk systems (15+ year data retention)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Evaluate vendor readiness (third-party dependency)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 xml:space="preserve">Report quantum risk to Board quarterly (governance </a:t>
            </a:r>
            <a:r>
              <a:rPr lang="en-US" sz="1500" dirty="0"/>
              <a:t>visibility)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34392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C2FC86C-B6B1-7561-BCB4-C0824E8D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341527"/>
            <a:ext cx="11576050" cy="512961"/>
          </a:xfrm>
        </p:spPr>
        <p:txBody>
          <a:bodyPr>
            <a:normAutofit fontScale="90000"/>
          </a:bodyPr>
          <a:lstStyle/>
          <a:p>
            <a:r>
              <a:rPr lang="en-US" sz="3333" b="1" dirty="0">
                <a:solidFill>
                  <a:schemeClr val="bg2"/>
                </a:solidFill>
                <a:latin typeface="+mn-lt"/>
              </a:rPr>
              <a:t>What Should Internal Audit Do?</a:t>
            </a:r>
            <a:endParaRPr lang="en-GB" sz="3333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A3A5369-E6CA-D82C-BA7D-01BB9AB1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 FRAMEWORK (ISACA Risk IT + COSO Integration)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E717DA-9FAF-908A-12A3-B49CCF9EB715}"/>
              </a:ext>
            </a:extLst>
          </p:cNvPr>
          <p:cNvSpPr/>
          <p:nvPr/>
        </p:nvSpPr>
        <p:spPr>
          <a:xfrm>
            <a:off x="307975" y="1722018"/>
            <a:ext cx="5715000" cy="19050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Step 1: EVALUATE - Identify &amp; Prioritize Risk</a:t>
            </a:r>
          </a:p>
          <a:p>
            <a:r>
              <a:rPr lang="en-GB" sz="1333" dirty="0"/>
              <a:t>What to Test: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Cryptographic Inventory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Data Classification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HNDL Exposure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8BF3A7-5996-D602-D93B-E33BF1310B93}"/>
              </a:ext>
            </a:extLst>
          </p:cNvPr>
          <p:cNvSpPr/>
          <p:nvPr/>
        </p:nvSpPr>
        <p:spPr>
          <a:xfrm>
            <a:off x="6169027" y="3804527"/>
            <a:ext cx="5715000" cy="19050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33" b="1" dirty="0"/>
              <a:t>Step 4: MONITOR - Track Migration Progress</a:t>
            </a:r>
          </a:p>
          <a:p>
            <a:r>
              <a:rPr lang="en-US" sz="1333" dirty="0"/>
              <a:t>Ongoing Metrics: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% Systems in Cryptographic Inventory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 xml:space="preserve">Hybrid Encryption Pilots 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Vendor Compliance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333" dirty="0"/>
              <a:t>Corrective Action Closure Rate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6BE478-C29D-ED6B-C8E9-57F0A0098026}"/>
              </a:ext>
            </a:extLst>
          </p:cNvPr>
          <p:cNvSpPr/>
          <p:nvPr/>
        </p:nvSpPr>
        <p:spPr>
          <a:xfrm>
            <a:off x="6169027" y="1691259"/>
            <a:ext cx="5715000" cy="1905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33" b="1" dirty="0"/>
              <a:t>Step 2: ASSESS CONTROLS - Test Technical Implementation</a:t>
            </a:r>
          </a:p>
          <a:p>
            <a:r>
              <a:rPr lang="en-GB" sz="1333" dirty="0"/>
              <a:t>What to Audit: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Hybrid Encryption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Algorithm Compliance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Key Management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Vendor Readiness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05F773-13EB-0672-70F8-D321A1869B72}"/>
              </a:ext>
            </a:extLst>
          </p:cNvPr>
          <p:cNvSpPr/>
          <p:nvPr/>
        </p:nvSpPr>
        <p:spPr>
          <a:xfrm>
            <a:off x="331067" y="3804527"/>
            <a:ext cx="5715000" cy="1905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33" b="1" dirty="0"/>
              <a:t>Step 3: VENDOR RISK - Third-Party Assessment</a:t>
            </a:r>
          </a:p>
          <a:p>
            <a:r>
              <a:rPr lang="en-GB" sz="1333" dirty="0"/>
              <a:t>Critical Vendors to Assess: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Payment Processors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Cloud Providers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Cryptographic Module Suppliers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GB" sz="1333" dirty="0"/>
              <a:t>Key Management System (KMS) Vendors</a:t>
            </a:r>
          </a:p>
        </p:txBody>
      </p:sp>
    </p:spTree>
    <p:extLst>
      <p:ext uri="{BB962C8B-B14F-4D97-AF65-F5344CB8AC3E}">
        <p14:creationId xmlns:p14="http://schemas.microsoft.com/office/powerpoint/2010/main" val="264008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2053" y="473129"/>
            <a:ext cx="11087894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This Is Not Science Fiction</a:t>
            </a:r>
          </a:p>
        </p:txBody>
      </p:sp>
      <p:sp>
        <p:nvSpPr>
          <p:cNvPr id="3" name="ImagePlaceholder"/>
          <p:cNvSpPr/>
          <p:nvPr/>
        </p:nvSpPr>
        <p:spPr>
          <a:xfrm>
            <a:off x="3048000" y="1300000"/>
            <a:ext cx="6096000" cy="4200000"/>
          </a:xfrm>
          <a:prstGeom prst="rect">
            <a:avLst/>
          </a:prstGeom>
          <a:solidFill>
            <a:srgbClr val="0E2841"/>
          </a:solidFill>
          <a:ln w="38100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[ INSERT IMAGE HERE ]</a:t>
            </a:r>
          </a:p>
          <a:p>
            <a:pPr algn="ctr"/>
            <a:r>
              <a:rPr lang="en-US" sz="1400" dirty="0">
                <a:solidFill>
                  <a:srgbClr val="E8E8E8"/>
                </a:solidFill>
              </a:rPr>
              <a:t>IBM Quantum System One</a:t>
            </a:r>
          </a:p>
          <a:p>
            <a:pPr algn="ctr"/>
            <a:r>
              <a:rPr lang="en-US" sz="1200" i="1" dirty="0">
                <a:solidFill>
                  <a:srgbClr val="E97132"/>
                </a:solidFill>
              </a:rPr>
              <a:t>Source: IBM Newsroom / Wikimedia Commons</a:t>
            </a:r>
          </a:p>
        </p:txBody>
      </p:sp>
      <p:sp>
        <p:nvSpPr>
          <p:cNvPr id="4" name="Caption"/>
          <p:cNvSpPr/>
          <p:nvPr/>
        </p:nvSpPr>
        <p:spPr>
          <a:xfrm>
            <a:off x="1524000" y="5650000"/>
            <a:ext cx="9144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E2841"/>
                </a:solidFill>
              </a:rPr>
              <a:t>The gold “chandelier” is a dilution refrigerator.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04040"/>
                </a:solidFill>
              </a:rPr>
              <a:t>It cools qubits to 15 millikelvin — colder than outer space. These machines exist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2053" y="473129"/>
            <a:ext cx="11087894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August 2024: The Standards Are Final</a:t>
            </a:r>
          </a:p>
        </p:txBody>
      </p:sp>
      <p:sp>
        <p:nvSpPr>
          <p:cNvPr id="3" name="ImagePlaceholder"/>
          <p:cNvSpPr/>
          <p:nvPr/>
        </p:nvSpPr>
        <p:spPr>
          <a:xfrm>
            <a:off x="3048000" y="1300000"/>
            <a:ext cx="6096000" cy="4200000"/>
          </a:xfrm>
          <a:prstGeom prst="rect">
            <a:avLst/>
          </a:prstGeom>
          <a:solidFill>
            <a:srgbClr val="0E2841"/>
          </a:solidFill>
          <a:ln w="38100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[ INSERT IMAGE HERE ]</a:t>
            </a:r>
          </a:p>
          <a:p>
            <a:pPr algn="ctr"/>
            <a:r>
              <a:rPr lang="en-US" sz="1400" dirty="0">
                <a:solidFill>
                  <a:srgbClr val="E8E8E8"/>
                </a:solidFill>
              </a:rPr>
              <a:t>NIST publishes final PQC standards</a:t>
            </a:r>
          </a:p>
          <a:p>
            <a:pPr algn="ctr"/>
            <a:r>
              <a:rPr lang="en-US" sz="1200" i="1" dirty="0">
                <a:solidFill>
                  <a:srgbClr val="E97132"/>
                </a:solidFill>
              </a:rPr>
              <a:t>Source: NIST.gov / Wikimedia Commons</a:t>
            </a:r>
          </a:p>
        </p:txBody>
      </p:sp>
      <p:sp>
        <p:nvSpPr>
          <p:cNvPr id="4" name="Caption"/>
          <p:cNvSpPr/>
          <p:nvPr/>
        </p:nvSpPr>
        <p:spPr>
          <a:xfrm>
            <a:off x="1524000" y="5650000"/>
            <a:ext cx="9144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E2841"/>
                </a:solidFill>
              </a:rPr>
              <a:t>After 8 years of global review, the post-quantum standards are no longer drafts.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04040"/>
                </a:solidFill>
              </a:rPr>
              <a:t>ML-KEM, ML-DSA, SLH-DSA. Regulators are already citing these in compliance guidance.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2053" y="473129"/>
            <a:ext cx="11087894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Where “Harvest Now” Actually Happens</a:t>
            </a:r>
          </a:p>
        </p:txBody>
      </p:sp>
      <p:sp>
        <p:nvSpPr>
          <p:cNvPr id="3" name="ImagePlaceholder"/>
          <p:cNvSpPr/>
          <p:nvPr/>
        </p:nvSpPr>
        <p:spPr>
          <a:xfrm>
            <a:off x="3048000" y="1300000"/>
            <a:ext cx="6096000" cy="4200000"/>
          </a:xfrm>
          <a:prstGeom prst="rect">
            <a:avLst/>
          </a:prstGeom>
          <a:solidFill>
            <a:srgbClr val="0E2841"/>
          </a:solidFill>
          <a:ln w="38100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[ INSERT IMAGE HERE ]</a:t>
            </a:r>
          </a:p>
          <a:p>
            <a:pPr algn="ctr"/>
            <a:r>
              <a:rPr lang="en-US" sz="1400" dirty="0">
                <a:solidFill>
                  <a:srgbClr val="E8E8E8"/>
                </a:solidFill>
              </a:rPr>
              <a:t>Data center storage racks</a:t>
            </a:r>
          </a:p>
          <a:p>
            <a:pPr algn="ctr"/>
            <a:r>
              <a:rPr lang="en-US" sz="1200" i="1" dirty="0">
                <a:solidFill>
                  <a:srgbClr val="E97132"/>
                </a:solidFill>
              </a:rPr>
              <a:t>Source: Unsplash / Pexels (free for commercial use)</a:t>
            </a:r>
          </a:p>
        </p:txBody>
      </p:sp>
      <p:sp>
        <p:nvSpPr>
          <p:cNvPr id="4" name="Caption"/>
          <p:cNvSpPr/>
          <p:nvPr/>
        </p:nvSpPr>
        <p:spPr>
          <a:xfrm>
            <a:off x="1524000" y="5650000"/>
            <a:ext cx="9144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E2841"/>
                </a:solidFill>
              </a:rPr>
              <a:t>Encrypted traffic is being recorded today — in facilities that look like this.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04040"/>
                </a:solidFill>
              </a:rPr>
              <a:t>Adversaries don’t need to break it now. They just need to store it until they can.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2053" y="473129"/>
            <a:ext cx="11087894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3333" b="1" dirty="0">
                <a:solidFill>
                  <a:schemeClr val="tx2"/>
                </a:solidFill>
                <a:ea typeface="Instrument Sans Semi Bold" pitchFamily="34" charset="-122"/>
                <a:cs typeface="Instrument Sans Semi Bold" pitchFamily="34" charset="-120"/>
              </a:rPr>
              <a:t>Santander, 2022: First Quantum-Secured Wire</a:t>
            </a:r>
          </a:p>
        </p:txBody>
      </p:sp>
      <p:sp>
        <p:nvSpPr>
          <p:cNvPr id="3" name="ImagePlaceholder"/>
          <p:cNvSpPr/>
          <p:nvPr/>
        </p:nvSpPr>
        <p:spPr>
          <a:xfrm>
            <a:off x="3048000" y="1300000"/>
            <a:ext cx="6096000" cy="4200000"/>
          </a:xfrm>
          <a:prstGeom prst="rect">
            <a:avLst/>
          </a:prstGeom>
          <a:solidFill>
            <a:srgbClr val="0E2841"/>
          </a:solidFill>
          <a:ln w="38100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[ INSERT IMAGE HERE ]</a:t>
            </a:r>
          </a:p>
          <a:p>
            <a:pPr algn="ctr"/>
            <a:r>
              <a:rPr lang="en-US" sz="1400" dirty="0">
                <a:solidFill>
                  <a:srgbClr val="E8E8E8"/>
                </a:solidFill>
              </a:rPr>
              <a:t>Santander Bank</a:t>
            </a:r>
          </a:p>
          <a:p>
            <a:pPr algn="ctr"/>
            <a:r>
              <a:rPr lang="en-US" sz="1200" i="1" dirty="0">
                <a:solidFill>
                  <a:srgbClr val="E97132"/>
                </a:solidFill>
              </a:rPr>
              <a:t>Source: Wikimedia Commons / Santander press kit</a:t>
            </a:r>
          </a:p>
        </p:txBody>
      </p:sp>
      <p:sp>
        <p:nvSpPr>
          <p:cNvPr id="4" name="Caption"/>
          <p:cNvSpPr/>
          <p:nvPr/>
        </p:nvSpPr>
        <p:spPr>
          <a:xfrm>
            <a:off x="1524000" y="5650000"/>
            <a:ext cx="9144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E2841"/>
                </a:solidFill>
              </a:rPr>
              <a:t>Spain to South America. Real money. Real QKD.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04040"/>
                </a:solidFill>
              </a:rPr>
              <a:t>Zero successful interceptions. The protocol detected every probe attempt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Microsoft Office PowerPoint</Application>
  <PresentationFormat>Widescreen</PresentationFormat>
  <Paragraphs>194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What Happens If We Don’t Act?</vt:lpstr>
      <vt:lpstr>Who Will Make This Happen?</vt:lpstr>
      <vt:lpstr>What Should Internal Audit Do?</vt:lpstr>
      <vt:lpstr>What Should Internal Audit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Aithal, Ananya</dc:creator>
  <cp:lastModifiedBy>Aithal, Ananya</cp:lastModifiedBy>
  <cp:revision>1</cp:revision>
  <dcterms:created xsi:type="dcterms:W3CDTF">2026-04-29T10:39:27Z</dcterms:created>
  <dcterms:modified xsi:type="dcterms:W3CDTF">2026-04-29T10:40:30Z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