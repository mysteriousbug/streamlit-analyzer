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4630400" cy="8229600"/>
  <p:notesSz cx="8229600" cy="14630400"/>
  <p:embeddedFontLst>
    <p:embeddedFont>
      <p:font typeface="Unbounded"/>
      <p:regular r:id="rId8"/>
    </p:embeddedFont>
    <p:embeddedFont>
      <p:font typeface="Unbounded"/>
      <p:regular r:id="rId9"/>
    </p:embeddedFont>
    <p:embeddedFont>
      <p:font typeface="Cabin"/>
      <p:regular r:id="rId10"/>
    </p:embeddedFont>
    <p:embeddedFont>
      <p:font typeface="Cabin"/>
      <p:regular r:id="rId11"/>
    </p:embeddedFont>
    <p:embeddedFont>
      <p:font typeface="Cabin"/>
      <p:regular r:id="rId12"/>
    </p:embeddedFont>
    <p:embeddedFont>
      <p:font typeface="Cabin"/>
      <p:regular r:id="rId13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font" Target="fonts/font1.fntdata"/><Relationship Id="rId9" Type="http://schemas.openxmlformats.org/officeDocument/2006/relationships/font" Target="fonts/font2.fntdata"/><Relationship Id="rId10" Type="http://schemas.openxmlformats.org/officeDocument/2006/relationships/font" Target="fonts/font3.fntdata"/><Relationship Id="rId11" Type="http://schemas.openxmlformats.org/officeDocument/2006/relationships/font" Target="fonts/font4.fntdata"/><Relationship Id="rId12" Type="http://schemas.openxmlformats.org/officeDocument/2006/relationships/font" Target="fonts/font5.fntdata"/><Relationship Id="rId13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2836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svg"/><Relationship Id="rId7" Type="http://schemas.openxmlformats.org/officeDocument/2006/relationships/image" Target="../media/image-1-7.png"/><Relationship Id="rId8" Type="http://schemas.openxmlformats.org/officeDocument/2006/relationships/image" Target="../media/image-1-8.svg"/><Relationship Id="rId9" Type="http://schemas.openxmlformats.org/officeDocument/2006/relationships/image" Target="../media/image-1-9.png"/><Relationship Id="rId10" Type="http://schemas.openxmlformats.org/officeDocument/2006/relationships/image" Target="../media/image-1-10.svg"/><Relationship Id="rId11" Type="http://schemas.openxmlformats.org/officeDocument/2006/relationships/image" Target="../media/image-1-11.png"/><Relationship Id="rId12" Type="http://schemas.openxmlformats.org/officeDocument/2006/relationships/image" Target="../media/image-1-12.svg"/><Relationship Id="rId13" Type="http://schemas.openxmlformats.org/officeDocument/2006/relationships/image" Target="../media/image-1-13.png"/><Relationship Id="rId14" Type="http://schemas.openxmlformats.org/officeDocument/2006/relationships/image" Target="../media/image-1-14.sv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svg"/><Relationship Id="rId18" Type="http://schemas.openxmlformats.org/officeDocument/2006/relationships/image" Target="../media/image-1-18.png"/><Relationship Id="rId19" Type="http://schemas.openxmlformats.org/officeDocument/2006/relationships/image" Target="../media/image-1-19.svg"/><Relationship Id="rId20" Type="http://schemas.openxmlformats.org/officeDocument/2006/relationships/image" Target="../media/image-1-20.png"/><Relationship Id="rId21" Type="http://schemas.openxmlformats.org/officeDocument/2006/relationships/image" Target="../media/image-1-21.svg"/><Relationship Id="rId22" Type="http://schemas.openxmlformats.org/officeDocument/2006/relationships/image" Target="../media/image-1-22.png"/><Relationship Id="rId23" Type="http://schemas.openxmlformats.org/officeDocument/2006/relationships/image" Target="../media/image-1-23.svg"/><Relationship Id="rId24" Type="http://schemas.openxmlformats.org/officeDocument/2006/relationships/image" Target="../media/image-1-24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8862" y="287893"/>
            <a:ext cx="4106227" cy="2001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Building AI Security Capability for Our Team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18862" y="496848"/>
            <a:ext cx="4017050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 12-week structured program to equip the ICS team with AI/LLM security audit skills</a:t>
            </a:r>
            <a:endParaRPr lang="en-US" sz="600" dirty="0"/>
          </a:p>
        </p:txBody>
      </p:sp>
      <p:sp>
        <p:nvSpPr>
          <p:cNvPr id="4" name="Shape 2"/>
          <p:cNvSpPr/>
          <p:nvPr/>
        </p:nvSpPr>
        <p:spPr>
          <a:xfrm>
            <a:off x="369808" y="630079"/>
            <a:ext cx="4538424" cy="8075652"/>
          </a:xfrm>
          <a:prstGeom prst="roundRect">
            <a:avLst>
              <a:gd name="adj" fmla="val 225"/>
            </a:avLst>
          </a:prstGeom>
          <a:solidFill>
            <a:srgbClr val="0A988B"/>
          </a:solidFill>
          <a:ln/>
        </p:spPr>
      </p:sp>
      <p:sp>
        <p:nvSpPr>
          <p:cNvPr id="5" name="Text 3"/>
          <p:cNvSpPr/>
          <p:nvPr/>
        </p:nvSpPr>
        <p:spPr>
          <a:xfrm>
            <a:off x="437793" y="652105"/>
            <a:ext cx="800814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The Challenge</a:t>
            </a:r>
            <a:endParaRPr lang="en-US" sz="600" dirty="0"/>
          </a:p>
        </p:txBody>
      </p:sp>
      <p:sp>
        <p:nvSpPr>
          <p:cNvPr id="6" name="Text 4"/>
          <p:cNvSpPr/>
          <p:nvPr/>
        </p:nvSpPr>
        <p:spPr>
          <a:xfrm>
            <a:off x="437793" y="774263"/>
            <a:ext cx="4402455" cy="23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000000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AI Factory audit scheduled Q2 2026 → requires hands-on security testing</a:t>
            </a:r>
            <a:endParaRPr lang="en-US" sz="500" dirty="0"/>
          </a:p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000000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Current team lacks practical AI/LLM security skills</a:t>
            </a:r>
            <a:endParaRPr lang="en-US" sz="500" dirty="0"/>
          </a:p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000000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External consultants cost USD 50,000–100,000 per engagement</a:t>
            </a:r>
            <a:endParaRPr lang="en-US" sz="500" dirty="0"/>
          </a:p>
        </p:txBody>
      </p:sp>
      <p:sp>
        <p:nvSpPr>
          <p:cNvPr id="7" name="Shape 5"/>
          <p:cNvSpPr/>
          <p:nvPr/>
        </p:nvSpPr>
        <p:spPr>
          <a:xfrm>
            <a:off x="437793" y="1065007"/>
            <a:ext cx="4402455" cy="16073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37793" y="1105853"/>
            <a:ext cx="800814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The Investment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437793" y="1228011"/>
            <a:ext cx="4402455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000000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USD 17,584 total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(USD 1,099 per team member × 16)</a:t>
            </a:r>
            <a:endParaRPr lang="en-US" sz="500" dirty="0"/>
          </a:p>
        </p:txBody>
      </p:sp>
      <p:sp>
        <p:nvSpPr>
          <p:cNvPr id="10" name="Text 8"/>
          <p:cNvSpPr/>
          <p:nvPr/>
        </p:nvSpPr>
        <p:spPr>
          <a:xfrm>
            <a:off x="437793" y="1320046"/>
            <a:ext cx="4402455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ROI: One AI Factory audit pays for entire program</a:t>
            </a:r>
            <a:endParaRPr lang="en-US" sz="500" dirty="0"/>
          </a:p>
        </p:txBody>
      </p:sp>
      <p:sp>
        <p:nvSpPr>
          <p:cNvPr id="11" name="Text 9"/>
          <p:cNvSpPr/>
          <p:nvPr/>
        </p:nvSpPr>
        <p:spPr>
          <a:xfrm>
            <a:off x="5032772" y="652105"/>
            <a:ext cx="800814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The Solution</a:t>
            </a:r>
            <a:endParaRPr lang="en-US" sz="600" dirty="0"/>
          </a:p>
        </p:txBody>
      </p:sp>
      <p:sp>
        <p:nvSpPr>
          <p:cNvPr id="12" name="Shape 10"/>
          <p:cNvSpPr/>
          <p:nvPr/>
        </p:nvSpPr>
        <p:spPr>
          <a:xfrm>
            <a:off x="5032772" y="777121"/>
            <a:ext cx="4582120" cy="345519"/>
          </a:xfrm>
          <a:prstGeom prst="roundRect">
            <a:avLst>
              <a:gd name="adj" fmla="val 10586"/>
            </a:avLst>
          </a:prstGeom>
          <a:solidFill>
            <a:srgbClr val="112836"/>
          </a:solidFill>
          <a:ln w="7620">
            <a:solidFill>
              <a:srgbClr val="49606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5152" y="777121"/>
            <a:ext cx="30480" cy="345519"/>
          </a:xfrm>
          <a:prstGeom prst="roundRect">
            <a:avLst>
              <a:gd name="adj" fmla="val 33501"/>
            </a:avLst>
          </a:prstGeom>
          <a:solidFill>
            <a:srgbClr val="0A988B"/>
          </a:solidFill>
          <a:ln/>
        </p:spPr>
      </p:sp>
      <p:sp>
        <p:nvSpPr>
          <p:cNvPr id="14" name="Text 12"/>
          <p:cNvSpPr/>
          <p:nvPr/>
        </p:nvSpPr>
        <p:spPr>
          <a:xfrm>
            <a:off x="5131237" y="852726"/>
            <a:ext cx="1629847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12-Week Structured Learning Path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5131237" y="974884"/>
            <a:ext cx="4408051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Self-paced labs + professional certifications (CAISP + Modern Security)</a:t>
            </a:r>
            <a:endParaRPr lang="en-US" sz="500" dirty="0"/>
          </a:p>
        </p:txBody>
      </p:sp>
      <p:sp>
        <p:nvSpPr>
          <p:cNvPr id="16" name="Shape 14"/>
          <p:cNvSpPr/>
          <p:nvPr/>
        </p:nvSpPr>
        <p:spPr>
          <a:xfrm>
            <a:off x="9636919" y="777121"/>
            <a:ext cx="4582120" cy="345519"/>
          </a:xfrm>
          <a:prstGeom prst="roundRect">
            <a:avLst>
              <a:gd name="adj" fmla="val 10586"/>
            </a:avLst>
          </a:prstGeom>
          <a:solidFill>
            <a:srgbClr val="112836"/>
          </a:solidFill>
          <a:ln w="7620">
            <a:solidFill>
              <a:srgbClr val="49606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29299" y="777121"/>
            <a:ext cx="30480" cy="345519"/>
          </a:xfrm>
          <a:prstGeom prst="roundRect">
            <a:avLst>
              <a:gd name="adj" fmla="val 33501"/>
            </a:avLst>
          </a:prstGeom>
          <a:solidFill>
            <a:srgbClr val="0A988B"/>
          </a:solidFill>
          <a:ln/>
        </p:spPr>
      </p:sp>
      <p:sp>
        <p:nvSpPr>
          <p:cNvPr id="18" name="Text 16"/>
          <p:cNvSpPr/>
          <p:nvPr/>
        </p:nvSpPr>
        <p:spPr>
          <a:xfrm>
            <a:off x="9735383" y="852726"/>
            <a:ext cx="1719739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Build Internal, Repeatable Capability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9735383" y="974884"/>
            <a:ext cx="4408051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For all future AI audits — no external consultants required</a:t>
            </a:r>
            <a:endParaRPr lang="en-US" sz="500" dirty="0"/>
          </a:p>
        </p:txBody>
      </p:sp>
      <p:sp>
        <p:nvSpPr>
          <p:cNvPr id="20" name="Text 18"/>
          <p:cNvSpPr/>
          <p:nvPr/>
        </p:nvSpPr>
        <p:spPr>
          <a:xfrm>
            <a:off x="5032772" y="1147524"/>
            <a:ext cx="800814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3-Phase Timeline</a:t>
            </a:r>
            <a:endParaRPr lang="en-US" sz="6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32772" y="1272540"/>
            <a:ext cx="9186267" cy="272177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5100757" y="1566743"/>
            <a:ext cx="800814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Q2 2026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5100757" y="1688902"/>
            <a:ext cx="9050298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Entry-Level Training — FREE</a:t>
            </a:r>
            <a:endParaRPr lang="en-US" sz="5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2772" y="1829038"/>
            <a:ext cx="9186267" cy="272177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5100757" y="2123242"/>
            <a:ext cx="800814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Q3 2026</a:t>
            </a:r>
            <a:endParaRPr lang="en-US" sz="600" dirty="0"/>
          </a:p>
        </p:txBody>
      </p:sp>
      <p:sp>
        <p:nvSpPr>
          <p:cNvPr id="26" name="Text 22"/>
          <p:cNvSpPr/>
          <p:nvPr/>
        </p:nvSpPr>
        <p:spPr>
          <a:xfrm>
            <a:off x="5100757" y="2245400"/>
            <a:ext cx="9050298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Hands-On Labs + CAISP — USD 1,099/person</a:t>
            </a:r>
            <a:endParaRPr lang="en-US" sz="500" dirty="0"/>
          </a:p>
        </p:txBody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2772" y="2385536"/>
            <a:ext cx="9186267" cy="272177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5100757" y="2679740"/>
            <a:ext cx="800814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Q4/Q1</a:t>
            </a:r>
            <a:endParaRPr lang="en-US" sz="600" dirty="0"/>
          </a:p>
        </p:txBody>
      </p:sp>
      <p:sp>
        <p:nvSpPr>
          <p:cNvPr id="29" name="Text 24"/>
          <p:cNvSpPr/>
          <p:nvPr/>
        </p:nvSpPr>
        <p:spPr>
          <a:xfrm>
            <a:off x="5100757" y="2801898"/>
            <a:ext cx="9050298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Advanced Specialization — USD 900/person (Optional)</a:t>
            </a:r>
            <a:endParaRPr lang="en-US" sz="500" dirty="0"/>
          </a:p>
        </p:txBody>
      </p:sp>
      <p:sp>
        <p:nvSpPr>
          <p:cNvPr id="30" name="Shape 25"/>
          <p:cNvSpPr/>
          <p:nvPr/>
        </p:nvSpPr>
        <p:spPr>
          <a:xfrm>
            <a:off x="5032772" y="3000844"/>
            <a:ext cx="9186267" cy="16073"/>
          </a:xfrm>
          <a:prstGeom prst="rect">
            <a:avLst/>
          </a:prstGeom>
          <a:solidFill>
            <a:srgbClr val="CAD6DE">
              <a:alpha val="50000"/>
            </a:srgbClr>
          </a:solidFill>
          <a:ln/>
        </p:spPr>
      </p:sp>
      <p:sp>
        <p:nvSpPr>
          <p:cNvPr id="31" name="Text 26"/>
          <p:cNvSpPr/>
          <p:nvPr/>
        </p:nvSpPr>
        <p:spPr>
          <a:xfrm>
            <a:off x="5032772" y="3041690"/>
            <a:ext cx="2687360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Phase 1: Entry-Level Training | Weeks 1–2 | Q2 2026 | FREE</a:t>
            </a:r>
            <a:endParaRPr lang="en-US" sz="600" dirty="0"/>
          </a:p>
        </p:txBody>
      </p:sp>
      <p:sp>
        <p:nvSpPr>
          <p:cNvPr id="32" name="Text 27"/>
          <p:cNvSpPr/>
          <p:nvPr/>
        </p:nvSpPr>
        <p:spPr>
          <a:xfrm>
            <a:off x="5032772" y="3163848"/>
            <a:ext cx="9186267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What: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5 mandatory online trainings</a:t>
            </a:r>
            <a:endParaRPr lang="en-US" sz="500" dirty="0"/>
          </a:p>
        </p:txBody>
      </p:sp>
      <p:sp>
        <p:nvSpPr>
          <p:cNvPr id="33" name="Text 28"/>
          <p:cNvSpPr/>
          <p:nvPr/>
        </p:nvSpPr>
        <p:spPr>
          <a:xfrm>
            <a:off x="5032772" y="3255883"/>
            <a:ext cx="9186267" cy="391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OWASP Top 10 for LLM Applications 2025</a:t>
            </a:r>
            <a:endParaRPr lang="en-US" sz="500" dirty="0"/>
          </a:p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MITRE ATLAS Framework</a:t>
            </a:r>
            <a:endParaRPr lang="en-US" sz="500" dirty="0"/>
          </a:p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NIST AI Risk Management Framework</a:t>
            </a:r>
            <a:endParaRPr lang="en-US" sz="500" dirty="0"/>
          </a:p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RAND AI Security Guide</a:t>
            </a:r>
            <a:endParaRPr lang="en-US" sz="500" dirty="0"/>
          </a:p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Google Secure AI Framework</a:t>
            </a:r>
            <a:endParaRPr lang="en-US" sz="500" dirty="0"/>
          </a:p>
        </p:txBody>
      </p:sp>
      <p:sp>
        <p:nvSpPr>
          <p:cNvPr id="34" name="Text 29"/>
          <p:cNvSpPr/>
          <p:nvPr/>
        </p:nvSpPr>
        <p:spPr>
          <a:xfrm>
            <a:off x="5032772" y="3667482"/>
            <a:ext cx="9186267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Who: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ALL 16 team members | </a:t>
            </a:r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Timeline: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Complete by END OF Q2 2026</a:t>
            </a:r>
            <a:endParaRPr lang="en-US" sz="500" dirty="0"/>
          </a:p>
        </p:txBody>
      </p:sp>
      <p:sp>
        <p:nvSpPr>
          <p:cNvPr id="35" name="Text 30"/>
          <p:cNvSpPr/>
          <p:nvPr/>
        </p:nvSpPr>
        <p:spPr>
          <a:xfrm>
            <a:off x="5032772" y="3759518"/>
            <a:ext cx="9186267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Deliverable: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Team attestation in Excel tracker | </a:t>
            </a:r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Target: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100% completion</a:t>
            </a:r>
            <a:endParaRPr lang="en-US" sz="500" dirty="0"/>
          </a:p>
        </p:txBody>
      </p:sp>
      <p:sp>
        <p:nvSpPr>
          <p:cNvPr id="36" name="Shape 31"/>
          <p:cNvSpPr/>
          <p:nvPr/>
        </p:nvSpPr>
        <p:spPr>
          <a:xfrm>
            <a:off x="5032772" y="3890479"/>
            <a:ext cx="9186267" cy="16073"/>
          </a:xfrm>
          <a:prstGeom prst="rect">
            <a:avLst/>
          </a:prstGeom>
          <a:solidFill>
            <a:srgbClr val="CAD6DE">
              <a:alpha val="50000"/>
            </a:srgbClr>
          </a:solidFill>
          <a:ln/>
        </p:spPr>
      </p:sp>
      <p:sp>
        <p:nvSpPr>
          <p:cNvPr id="37" name="Text 32"/>
          <p:cNvSpPr/>
          <p:nvPr/>
        </p:nvSpPr>
        <p:spPr>
          <a:xfrm>
            <a:off x="5032772" y="3931325"/>
            <a:ext cx="3156228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Phase 2: Hands-On Labs | Weeks 4–8 | Q3 2026 | USD 1,099/person</a:t>
            </a:r>
            <a:endParaRPr lang="en-US" sz="600" dirty="0"/>
          </a:p>
        </p:txBody>
      </p:sp>
      <p:sp>
        <p:nvSpPr>
          <p:cNvPr id="38" name="Text 33"/>
          <p:cNvSpPr/>
          <p:nvPr/>
        </p:nvSpPr>
        <p:spPr>
          <a:xfrm>
            <a:off x="5032772" y="4053483"/>
            <a:ext cx="9186267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Platform: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Practical DevSecOps (self-paced, online, browser-based)</a:t>
            </a:r>
            <a:endParaRPr lang="en-US" sz="500" dirty="0"/>
          </a:p>
        </p:txBody>
      </p:sp>
      <p:sp>
        <p:nvSpPr>
          <p:cNvPr id="39" name="Text 34"/>
          <p:cNvSpPr/>
          <p:nvPr/>
        </p:nvSpPr>
        <p:spPr>
          <a:xfrm>
            <a:off x="5032772" y="4145518"/>
            <a:ext cx="9186267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What: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15 progressive labs</a:t>
            </a:r>
            <a:endParaRPr lang="en-US" sz="500" dirty="0"/>
          </a:p>
        </p:txBody>
      </p:sp>
      <p:sp>
        <p:nvSpPr>
          <p:cNvPr id="40" name="Text 35"/>
          <p:cNvSpPr/>
          <p:nvPr/>
        </p:nvSpPr>
        <p:spPr>
          <a:xfrm>
            <a:off x="5032772" y="4237553"/>
            <a:ext cx="9186267" cy="391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Labs 1–3: Prompt injection (direct &amp; indirect)</a:t>
            </a:r>
            <a:endParaRPr lang="en-US" sz="500" dirty="0"/>
          </a:p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Labs 4–6: Model extraction &amp; data poisoning</a:t>
            </a:r>
            <a:endParaRPr lang="en-US" sz="500" dirty="0"/>
          </a:p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Labs 7–9: Supply chain attacks &amp; RAG security</a:t>
            </a:r>
            <a:endParaRPr lang="en-US" sz="500" dirty="0"/>
          </a:p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Labs 10–12: Agent autonomy &amp; tool misuse</a:t>
            </a:r>
            <a:endParaRPr lang="en-US" sz="500" dirty="0"/>
          </a:p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Labs 13–15: End-to-end attacks &amp; capstone exercise</a:t>
            </a:r>
            <a:endParaRPr lang="en-US" sz="500" dirty="0"/>
          </a:p>
        </p:txBody>
      </p:sp>
      <p:sp>
        <p:nvSpPr>
          <p:cNvPr id="41" name="Text 36"/>
          <p:cNvSpPr/>
          <p:nvPr/>
        </p:nvSpPr>
        <p:spPr>
          <a:xfrm>
            <a:off x="5032772" y="4649153"/>
            <a:ext cx="9186267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Certification: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CAISP (Certified AI Security Professional)</a:t>
            </a:r>
            <a:endParaRPr lang="en-US" sz="500" dirty="0"/>
          </a:p>
        </p:txBody>
      </p:sp>
      <p:sp>
        <p:nvSpPr>
          <p:cNvPr id="42" name="Text 37"/>
          <p:cNvSpPr/>
          <p:nvPr/>
        </p:nvSpPr>
        <p:spPr>
          <a:xfrm>
            <a:off x="5032772" y="4741188"/>
            <a:ext cx="9186267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Who: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ALL 16 team members | </a:t>
            </a:r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Timeline: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Complete by END OF Q3 2026</a:t>
            </a:r>
            <a:endParaRPr lang="en-US" sz="500" dirty="0"/>
          </a:p>
        </p:txBody>
      </p:sp>
      <p:sp>
        <p:nvSpPr>
          <p:cNvPr id="43" name="Text 38"/>
          <p:cNvSpPr/>
          <p:nvPr/>
        </p:nvSpPr>
        <p:spPr>
          <a:xfrm>
            <a:off x="5032772" y="4833223"/>
            <a:ext cx="9186267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Deliverable: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15 labs completed + CAISP exam passed | </a:t>
            </a:r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Target: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100% certification (16/16 CAISP-certified)</a:t>
            </a:r>
            <a:endParaRPr lang="en-US" sz="500" dirty="0"/>
          </a:p>
        </p:txBody>
      </p:sp>
      <p:sp>
        <p:nvSpPr>
          <p:cNvPr id="44" name="Shape 39"/>
          <p:cNvSpPr/>
          <p:nvPr/>
        </p:nvSpPr>
        <p:spPr>
          <a:xfrm>
            <a:off x="5032772" y="4964184"/>
            <a:ext cx="9186267" cy="16073"/>
          </a:xfrm>
          <a:prstGeom prst="rect">
            <a:avLst/>
          </a:prstGeom>
          <a:solidFill>
            <a:srgbClr val="CAD6DE">
              <a:alpha val="50000"/>
            </a:srgbClr>
          </a:solidFill>
          <a:ln/>
        </p:spPr>
      </p:sp>
      <p:sp>
        <p:nvSpPr>
          <p:cNvPr id="45" name="Text 40"/>
          <p:cNvSpPr/>
          <p:nvPr/>
        </p:nvSpPr>
        <p:spPr>
          <a:xfrm>
            <a:off x="5032772" y="5005030"/>
            <a:ext cx="3434239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Phase 3: Advanced Specialization | Weeks 8–12 | Q4/Q1 | USD 900/person</a:t>
            </a:r>
            <a:endParaRPr lang="en-US" sz="600" dirty="0"/>
          </a:p>
        </p:txBody>
      </p:sp>
      <p:sp>
        <p:nvSpPr>
          <p:cNvPr id="46" name="Text 41"/>
          <p:cNvSpPr/>
          <p:nvPr/>
        </p:nvSpPr>
        <p:spPr>
          <a:xfrm>
            <a:off x="5032772" y="5127188"/>
            <a:ext cx="9186267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Platform: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Modern Security AI Security Certification</a:t>
            </a:r>
            <a:endParaRPr lang="en-US" sz="500" dirty="0"/>
          </a:p>
        </p:txBody>
      </p:sp>
      <p:sp>
        <p:nvSpPr>
          <p:cNvPr id="47" name="Text 42"/>
          <p:cNvSpPr/>
          <p:nvPr/>
        </p:nvSpPr>
        <p:spPr>
          <a:xfrm>
            <a:off x="5032772" y="5219224"/>
            <a:ext cx="9186267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Focus: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Threat modeling, security architecture, agentic AI systems</a:t>
            </a:r>
            <a:endParaRPr lang="en-US" sz="500" dirty="0"/>
          </a:p>
        </p:txBody>
      </p:sp>
      <p:sp>
        <p:nvSpPr>
          <p:cNvPr id="48" name="Text 43"/>
          <p:cNvSpPr/>
          <p:nvPr/>
        </p:nvSpPr>
        <p:spPr>
          <a:xfrm>
            <a:off x="5032772" y="5311259"/>
            <a:ext cx="9186267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Who: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AI Squad members (3–5 people) + selected specialists</a:t>
            </a:r>
            <a:endParaRPr lang="en-US" sz="500" dirty="0"/>
          </a:p>
        </p:txBody>
      </p:sp>
      <p:sp>
        <p:nvSpPr>
          <p:cNvPr id="49" name="Text 44"/>
          <p:cNvSpPr/>
          <p:nvPr/>
        </p:nvSpPr>
        <p:spPr>
          <a:xfrm>
            <a:off x="5032772" y="5403294"/>
            <a:ext cx="9186267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Timeline: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Complete by END OF Q4 2026 or Q1 2027</a:t>
            </a:r>
            <a:endParaRPr lang="en-US" sz="500" dirty="0"/>
          </a:p>
        </p:txBody>
      </p:sp>
      <p:sp>
        <p:nvSpPr>
          <p:cNvPr id="50" name="Text 45"/>
          <p:cNvSpPr/>
          <p:nvPr/>
        </p:nvSpPr>
        <p:spPr>
          <a:xfrm>
            <a:off x="5032772" y="5495330"/>
            <a:ext cx="9186267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Deliverable: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Modern Security certification | </a:t>
            </a:r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Target: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3–5 experts in advanced AI audit techniques</a:t>
            </a:r>
            <a:endParaRPr lang="en-US" sz="500" dirty="0"/>
          </a:p>
        </p:txBody>
      </p:sp>
      <p:sp>
        <p:nvSpPr>
          <p:cNvPr id="51" name="Shape 46"/>
          <p:cNvSpPr/>
          <p:nvPr/>
        </p:nvSpPr>
        <p:spPr>
          <a:xfrm>
            <a:off x="5032772" y="5592366"/>
            <a:ext cx="9186267" cy="190976"/>
          </a:xfrm>
          <a:prstGeom prst="roundRect">
            <a:avLst>
              <a:gd name="adj" fmla="val 5347"/>
            </a:avLst>
          </a:prstGeom>
          <a:solidFill>
            <a:srgbClr val="054842"/>
          </a:solidFill>
          <a:ln/>
        </p:spPr>
      </p:sp>
      <p:pic>
        <p:nvPicPr>
          <p:cNvPr id="5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0757" y="5678686"/>
            <a:ext cx="85011" cy="67985"/>
          </a:xfrm>
          <a:prstGeom prst="rect">
            <a:avLst/>
          </a:prstGeom>
        </p:spPr>
      </p:pic>
      <p:sp>
        <p:nvSpPr>
          <p:cNvPr id="53" name="Text 47"/>
          <p:cNvSpPr/>
          <p:nvPr/>
        </p:nvSpPr>
        <p:spPr>
          <a:xfrm>
            <a:off x="5253752" y="5631299"/>
            <a:ext cx="8897303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NOTE: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FFFFFF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Phase 3 timing flexible; can defer to Q1 2027 if needed</a:t>
            </a:r>
            <a:endParaRPr lang="en-US" sz="500" dirty="0"/>
          </a:p>
        </p:txBody>
      </p:sp>
      <p:sp>
        <p:nvSpPr>
          <p:cNvPr id="54" name="Shape 48"/>
          <p:cNvSpPr/>
          <p:nvPr/>
        </p:nvSpPr>
        <p:spPr>
          <a:xfrm>
            <a:off x="5032772" y="5842151"/>
            <a:ext cx="9186267" cy="16073"/>
          </a:xfrm>
          <a:prstGeom prst="rect">
            <a:avLst/>
          </a:prstGeom>
          <a:solidFill>
            <a:srgbClr val="CAD6DE">
              <a:alpha val="50000"/>
            </a:srgbClr>
          </a:solidFill>
          <a:ln/>
        </p:spPr>
      </p:sp>
      <p:sp>
        <p:nvSpPr>
          <p:cNvPr id="55" name="Text 49"/>
          <p:cNvSpPr/>
          <p:nvPr/>
        </p:nvSpPr>
        <p:spPr>
          <a:xfrm>
            <a:off x="5032772" y="5882997"/>
            <a:ext cx="882134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Timeline Summary</a:t>
            </a:r>
            <a:endParaRPr lang="en-US" sz="600" dirty="0"/>
          </a:p>
        </p:txBody>
      </p:sp>
      <p:sp>
        <p:nvSpPr>
          <p:cNvPr id="56" name="Shape 50"/>
          <p:cNvSpPr/>
          <p:nvPr/>
        </p:nvSpPr>
        <p:spPr>
          <a:xfrm>
            <a:off x="5032772" y="6478667"/>
            <a:ext cx="9186267" cy="7620"/>
          </a:xfrm>
          <a:prstGeom prst="roundRect">
            <a:avLst>
              <a:gd name="adj" fmla="val 134004"/>
            </a:avLst>
          </a:prstGeom>
          <a:solidFill>
            <a:srgbClr val="49606E"/>
          </a:solidFill>
          <a:ln/>
        </p:spPr>
      </p:sp>
      <p:sp>
        <p:nvSpPr>
          <p:cNvPr id="57" name="Shape 51"/>
          <p:cNvSpPr/>
          <p:nvPr/>
        </p:nvSpPr>
        <p:spPr>
          <a:xfrm>
            <a:off x="6857881" y="6342578"/>
            <a:ext cx="7620" cy="136088"/>
          </a:xfrm>
          <a:prstGeom prst="roundRect">
            <a:avLst>
              <a:gd name="adj" fmla="val 134004"/>
            </a:avLst>
          </a:prstGeom>
          <a:solidFill>
            <a:srgbClr val="49606E"/>
          </a:solidFill>
          <a:ln/>
        </p:spPr>
      </p:sp>
      <p:sp>
        <p:nvSpPr>
          <p:cNvPr id="58" name="Shape 52"/>
          <p:cNvSpPr/>
          <p:nvPr/>
        </p:nvSpPr>
        <p:spPr>
          <a:xfrm>
            <a:off x="6836212" y="6453188"/>
            <a:ext cx="50959" cy="50959"/>
          </a:xfrm>
          <a:prstGeom prst="roundRect">
            <a:avLst>
              <a:gd name="adj" fmla="val 897192"/>
            </a:avLst>
          </a:prstGeom>
          <a:solidFill>
            <a:srgbClr val="0A988B"/>
          </a:solidFill>
          <a:ln/>
        </p:spPr>
      </p:sp>
      <p:sp>
        <p:nvSpPr>
          <p:cNvPr id="59" name="Text 53"/>
          <p:cNvSpPr/>
          <p:nvPr/>
        </p:nvSpPr>
        <p:spPr>
          <a:xfrm>
            <a:off x="6461284" y="6008013"/>
            <a:ext cx="800814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Q2 2026</a:t>
            </a:r>
            <a:endParaRPr lang="en-US" sz="600" dirty="0"/>
          </a:p>
        </p:txBody>
      </p:sp>
      <p:sp>
        <p:nvSpPr>
          <p:cNvPr id="60" name="Text 54"/>
          <p:cNvSpPr/>
          <p:nvPr/>
        </p:nvSpPr>
        <p:spPr>
          <a:xfrm>
            <a:off x="5100757" y="6130171"/>
            <a:ext cx="3521869" cy="144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✓ Entry-Level Training (all 5 trainings, all 16 people)</a:t>
            </a:r>
            <a:endParaRPr lang="en-US" sz="500" dirty="0"/>
          </a:p>
          <a:p>
            <a:pPr algn="ctr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✓ Practical DevSecOps enrollment</a:t>
            </a:r>
            <a:endParaRPr lang="en-US" sz="500" dirty="0"/>
          </a:p>
        </p:txBody>
      </p:sp>
      <p:sp>
        <p:nvSpPr>
          <p:cNvPr id="61" name="Shape 55"/>
          <p:cNvSpPr/>
          <p:nvPr/>
        </p:nvSpPr>
        <p:spPr>
          <a:xfrm>
            <a:off x="8700611" y="6478667"/>
            <a:ext cx="7620" cy="136088"/>
          </a:xfrm>
          <a:prstGeom prst="roundRect">
            <a:avLst>
              <a:gd name="adj" fmla="val 134004"/>
            </a:avLst>
          </a:prstGeom>
          <a:solidFill>
            <a:srgbClr val="49606E"/>
          </a:solidFill>
          <a:ln/>
        </p:spPr>
      </p:sp>
      <p:sp>
        <p:nvSpPr>
          <p:cNvPr id="62" name="Shape 56"/>
          <p:cNvSpPr/>
          <p:nvPr/>
        </p:nvSpPr>
        <p:spPr>
          <a:xfrm>
            <a:off x="8678942" y="6453188"/>
            <a:ext cx="50959" cy="50959"/>
          </a:xfrm>
          <a:prstGeom prst="roundRect">
            <a:avLst>
              <a:gd name="adj" fmla="val 897192"/>
            </a:avLst>
          </a:prstGeom>
          <a:solidFill>
            <a:srgbClr val="0A988B"/>
          </a:solidFill>
          <a:ln/>
        </p:spPr>
      </p:sp>
      <p:sp>
        <p:nvSpPr>
          <p:cNvPr id="63" name="Text 57"/>
          <p:cNvSpPr/>
          <p:nvPr/>
        </p:nvSpPr>
        <p:spPr>
          <a:xfrm>
            <a:off x="8304014" y="6682859"/>
            <a:ext cx="800814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Q3 2026</a:t>
            </a:r>
            <a:endParaRPr lang="en-US" sz="600" dirty="0"/>
          </a:p>
        </p:txBody>
      </p:sp>
      <p:sp>
        <p:nvSpPr>
          <p:cNvPr id="64" name="Text 58"/>
          <p:cNvSpPr/>
          <p:nvPr/>
        </p:nvSpPr>
        <p:spPr>
          <a:xfrm>
            <a:off x="6943487" y="6805017"/>
            <a:ext cx="3521988" cy="216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✓ Hands-On Labs (15 labs, all 16 people)</a:t>
            </a:r>
            <a:endParaRPr lang="en-US" sz="500" dirty="0"/>
          </a:p>
          <a:p>
            <a:pPr algn="ctr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✓ CAISP Certification (all 16 exam passed)</a:t>
            </a:r>
            <a:endParaRPr lang="en-US" sz="500" dirty="0"/>
          </a:p>
          <a:p>
            <a:pPr algn="ctr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✓ </a:t>
            </a:r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TEAM READY FOR AI FACTORY AUDIT</a:t>
            </a:r>
            <a:endParaRPr lang="en-US" sz="500" dirty="0"/>
          </a:p>
        </p:txBody>
      </p:sp>
      <p:sp>
        <p:nvSpPr>
          <p:cNvPr id="65" name="Shape 59"/>
          <p:cNvSpPr/>
          <p:nvPr/>
        </p:nvSpPr>
        <p:spPr>
          <a:xfrm>
            <a:off x="10543342" y="6342578"/>
            <a:ext cx="7620" cy="136088"/>
          </a:xfrm>
          <a:prstGeom prst="roundRect">
            <a:avLst>
              <a:gd name="adj" fmla="val 134004"/>
            </a:avLst>
          </a:prstGeom>
          <a:solidFill>
            <a:srgbClr val="49606E"/>
          </a:solidFill>
          <a:ln/>
        </p:spPr>
      </p:sp>
      <p:sp>
        <p:nvSpPr>
          <p:cNvPr id="66" name="Shape 60"/>
          <p:cNvSpPr/>
          <p:nvPr/>
        </p:nvSpPr>
        <p:spPr>
          <a:xfrm>
            <a:off x="10521672" y="6453188"/>
            <a:ext cx="50959" cy="50959"/>
          </a:xfrm>
          <a:prstGeom prst="roundRect">
            <a:avLst>
              <a:gd name="adj" fmla="val 897192"/>
            </a:avLst>
          </a:prstGeom>
          <a:solidFill>
            <a:srgbClr val="0A988B"/>
          </a:solidFill>
          <a:ln/>
        </p:spPr>
      </p:sp>
      <p:sp>
        <p:nvSpPr>
          <p:cNvPr id="67" name="Text 61"/>
          <p:cNvSpPr/>
          <p:nvPr/>
        </p:nvSpPr>
        <p:spPr>
          <a:xfrm>
            <a:off x="10146744" y="6008013"/>
            <a:ext cx="800814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Q4 2026</a:t>
            </a:r>
            <a:endParaRPr lang="en-US" sz="600" dirty="0"/>
          </a:p>
        </p:txBody>
      </p:sp>
      <p:sp>
        <p:nvSpPr>
          <p:cNvPr id="68" name="Text 62"/>
          <p:cNvSpPr/>
          <p:nvPr/>
        </p:nvSpPr>
        <p:spPr>
          <a:xfrm>
            <a:off x="8786217" y="6130171"/>
            <a:ext cx="3521988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✓ Modern Security specialization (AI Squad, 3–5 people)</a:t>
            </a:r>
            <a:endParaRPr lang="en-US" sz="500" dirty="0"/>
          </a:p>
        </p:txBody>
      </p:sp>
      <p:sp>
        <p:nvSpPr>
          <p:cNvPr id="69" name="Shape 63"/>
          <p:cNvSpPr/>
          <p:nvPr/>
        </p:nvSpPr>
        <p:spPr>
          <a:xfrm>
            <a:off x="12386191" y="6478667"/>
            <a:ext cx="7620" cy="136088"/>
          </a:xfrm>
          <a:prstGeom prst="roundRect">
            <a:avLst>
              <a:gd name="adj" fmla="val 134004"/>
            </a:avLst>
          </a:prstGeom>
          <a:solidFill>
            <a:srgbClr val="49606E"/>
          </a:solidFill>
          <a:ln/>
        </p:spPr>
      </p:sp>
      <p:sp>
        <p:nvSpPr>
          <p:cNvPr id="70" name="Shape 64"/>
          <p:cNvSpPr/>
          <p:nvPr/>
        </p:nvSpPr>
        <p:spPr>
          <a:xfrm>
            <a:off x="12364522" y="6453188"/>
            <a:ext cx="50959" cy="50959"/>
          </a:xfrm>
          <a:prstGeom prst="roundRect">
            <a:avLst>
              <a:gd name="adj" fmla="val 897192"/>
            </a:avLst>
          </a:prstGeom>
          <a:solidFill>
            <a:srgbClr val="0A988B"/>
          </a:solidFill>
          <a:ln/>
        </p:spPr>
      </p:sp>
      <p:sp>
        <p:nvSpPr>
          <p:cNvPr id="71" name="Text 65"/>
          <p:cNvSpPr/>
          <p:nvPr/>
        </p:nvSpPr>
        <p:spPr>
          <a:xfrm>
            <a:off x="11989594" y="6682859"/>
            <a:ext cx="800814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Q1 2027</a:t>
            </a:r>
            <a:endParaRPr lang="en-US" sz="600" dirty="0"/>
          </a:p>
        </p:txBody>
      </p:sp>
      <p:sp>
        <p:nvSpPr>
          <p:cNvPr id="72" name="Text 66"/>
          <p:cNvSpPr/>
          <p:nvPr/>
        </p:nvSpPr>
        <p:spPr>
          <a:xfrm>
            <a:off x="10629067" y="6805017"/>
            <a:ext cx="3521988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✓ Advanced cert completion (if deferred from Q4)</a:t>
            </a:r>
            <a:endParaRPr lang="en-US" sz="500" dirty="0"/>
          </a:p>
        </p:txBody>
      </p:sp>
      <p:sp>
        <p:nvSpPr>
          <p:cNvPr id="73" name="Shape 67"/>
          <p:cNvSpPr/>
          <p:nvPr/>
        </p:nvSpPr>
        <p:spPr>
          <a:xfrm>
            <a:off x="5032772" y="7080282"/>
            <a:ext cx="9186267" cy="16073"/>
          </a:xfrm>
          <a:prstGeom prst="rect">
            <a:avLst/>
          </a:prstGeom>
          <a:solidFill>
            <a:srgbClr val="CAD6DE">
              <a:alpha val="50000"/>
            </a:srgbClr>
          </a:solidFill>
          <a:ln/>
        </p:spPr>
      </p:sp>
      <p:sp>
        <p:nvSpPr>
          <p:cNvPr id="74" name="Text 68"/>
          <p:cNvSpPr/>
          <p:nvPr/>
        </p:nvSpPr>
        <p:spPr>
          <a:xfrm>
            <a:off x="5032772" y="7121128"/>
            <a:ext cx="1063109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Weekly Execution Plan</a:t>
            </a:r>
            <a:endParaRPr lang="en-US" sz="600" dirty="0"/>
          </a:p>
        </p:txBody>
      </p:sp>
      <p:sp>
        <p:nvSpPr>
          <p:cNvPr id="75" name="Shape 69"/>
          <p:cNvSpPr/>
          <p:nvPr/>
        </p:nvSpPr>
        <p:spPr>
          <a:xfrm>
            <a:off x="5032772" y="7246144"/>
            <a:ext cx="4582120" cy="785813"/>
          </a:xfrm>
          <a:prstGeom prst="roundRect">
            <a:avLst>
              <a:gd name="adj" fmla="val 1299"/>
            </a:avLst>
          </a:prstGeom>
          <a:solidFill>
            <a:srgbClr val="304755"/>
          </a:solidFill>
          <a:ln/>
        </p:spPr>
      </p:sp>
      <p:sp>
        <p:nvSpPr>
          <p:cNvPr id="76" name="Text 70"/>
          <p:cNvSpPr/>
          <p:nvPr/>
        </p:nvSpPr>
        <p:spPr>
          <a:xfrm>
            <a:off x="5100757" y="7314128"/>
            <a:ext cx="800814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Q2 2026</a:t>
            </a:r>
            <a:endParaRPr lang="en-US" sz="600" dirty="0"/>
          </a:p>
        </p:txBody>
      </p:sp>
      <p:sp>
        <p:nvSpPr>
          <p:cNvPr id="77" name="Text 71"/>
          <p:cNvSpPr/>
          <p:nvPr/>
        </p:nvSpPr>
        <p:spPr>
          <a:xfrm>
            <a:off x="5100757" y="7436287"/>
            <a:ext cx="4446151" cy="144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Week 1–2: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Entry-Level Training begins — All 16 team members start OWASP, MITRE, NIST, RAND, Google. Weekly tracker updates.</a:t>
            </a:r>
            <a:endParaRPr lang="en-US" sz="500" dirty="0"/>
          </a:p>
          <a:p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→ MILESTONE (Week 2):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100% completion target</a:t>
            </a:r>
            <a:endParaRPr lang="en-US" sz="500" dirty="0"/>
          </a:p>
        </p:txBody>
      </p:sp>
      <p:sp>
        <p:nvSpPr>
          <p:cNvPr id="78" name="Text 72"/>
          <p:cNvSpPr/>
          <p:nvPr/>
        </p:nvSpPr>
        <p:spPr>
          <a:xfrm>
            <a:off x="5100757" y="7600474"/>
            <a:ext cx="4446151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Week 3: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Platform Setup — Practical DevSecOps enrollment for all 16. Lab access credentials distributed. Week 4 labs launch announcement.</a:t>
            </a:r>
            <a:endParaRPr lang="en-US" sz="500" dirty="0"/>
          </a:p>
        </p:txBody>
      </p:sp>
      <p:sp>
        <p:nvSpPr>
          <p:cNvPr id="79" name="Text 73"/>
          <p:cNvSpPr/>
          <p:nvPr/>
        </p:nvSpPr>
        <p:spPr>
          <a:xfrm>
            <a:off x="5100757" y="7692509"/>
            <a:ext cx="4446151" cy="797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END OF Q2: </a:t>
            </a:r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000000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✅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ENTRY-LEVEL TRAINING COMPLETE (All 16 attested)</a:t>
            </a:r>
            <a:endParaRPr lang="en-US" sz="500" dirty="0"/>
          </a:p>
        </p:txBody>
      </p:sp>
      <p:sp>
        <p:nvSpPr>
          <p:cNvPr id="80" name="Shape 74"/>
          <p:cNvSpPr/>
          <p:nvPr/>
        </p:nvSpPr>
        <p:spPr>
          <a:xfrm>
            <a:off x="9636919" y="7246144"/>
            <a:ext cx="4582120" cy="785813"/>
          </a:xfrm>
          <a:prstGeom prst="roundRect">
            <a:avLst>
              <a:gd name="adj" fmla="val 1299"/>
            </a:avLst>
          </a:prstGeom>
          <a:solidFill>
            <a:srgbClr val="304755"/>
          </a:solidFill>
          <a:ln/>
        </p:spPr>
      </p:sp>
      <p:sp>
        <p:nvSpPr>
          <p:cNvPr id="81" name="Text 75"/>
          <p:cNvSpPr/>
          <p:nvPr/>
        </p:nvSpPr>
        <p:spPr>
          <a:xfrm>
            <a:off x="9704903" y="7314128"/>
            <a:ext cx="800814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Q3 2026</a:t>
            </a:r>
            <a:endParaRPr lang="en-US" sz="600" dirty="0"/>
          </a:p>
        </p:txBody>
      </p:sp>
      <p:sp>
        <p:nvSpPr>
          <p:cNvPr id="82" name="Text 76"/>
          <p:cNvSpPr/>
          <p:nvPr/>
        </p:nvSpPr>
        <p:spPr>
          <a:xfrm>
            <a:off x="9704903" y="7436287"/>
            <a:ext cx="4446151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Week 4–6: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Labs 1–9 (Group A: 8 team members) — Prompt injection, model extraction, supply chain attacks. Weekly progress tracking.</a:t>
            </a:r>
            <a:endParaRPr lang="en-US" sz="500" dirty="0"/>
          </a:p>
        </p:txBody>
      </p:sp>
      <p:sp>
        <p:nvSpPr>
          <p:cNvPr id="83" name="Text 77"/>
          <p:cNvSpPr/>
          <p:nvPr/>
        </p:nvSpPr>
        <p:spPr>
          <a:xfrm>
            <a:off x="9704903" y="7528322"/>
            <a:ext cx="4446151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Week 6–8: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Labs 1–9 (Group B: 8 team members) — Same labs (staggered schedule). Overlap allows peer learning &amp; support.</a:t>
            </a:r>
            <a:endParaRPr lang="en-US" sz="500" dirty="0"/>
          </a:p>
        </p:txBody>
      </p:sp>
      <p:sp>
        <p:nvSpPr>
          <p:cNvPr id="84" name="Text 78"/>
          <p:cNvSpPr/>
          <p:nvPr/>
        </p:nvSpPr>
        <p:spPr>
          <a:xfrm>
            <a:off x="9704903" y="7620357"/>
            <a:ext cx="4446151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Week 8: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Final Labs &amp; Capstone (All 16) — Labs 10–15 for all. Capstone exercise (simulated AI system audit). CAISP exam begins.</a:t>
            </a:r>
            <a:endParaRPr lang="en-US" sz="500" dirty="0"/>
          </a:p>
        </p:txBody>
      </p:sp>
      <p:sp>
        <p:nvSpPr>
          <p:cNvPr id="85" name="Text 79"/>
          <p:cNvSpPr/>
          <p:nvPr/>
        </p:nvSpPr>
        <p:spPr>
          <a:xfrm>
            <a:off x="9704903" y="7712393"/>
            <a:ext cx="4446151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Week 9: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Exam Period (All 16) — CAISP exam completion. Retakes available until week 10 (within 60-day lab access).</a:t>
            </a:r>
            <a:endParaRPr lang="en-US" sz="500" dirty="0"/>
          </a:p>
        </p:txBody>
      </p:sp>
      <p:sp>
        <p:nvSpPr>
          <p:cNvPr id="86" name="Text 80"/>
          <p:cNvSpPr/>
          <p:nvPr/>
        </p:nvSpPr>
        <p:spPr>
          <a:xfrm>
            <a:off x="9704903" y="7804428"/>
            <a:ext cx="4446151" cy="159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END OF Q3: </a:t>
            </a:r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000000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✅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ALL 16 CAISP-CERTIFIED</a:t>
            </a:r>
            <a:endParaRPr lang="en-US" sz="500" dirty="0"/>
          </a:p>
          <a:p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000000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✅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TEAM READY FOR AI FACTORY AUDIT DEPLOYMENT</a:t>
            </a:r>
            <a:endParaRPr lang="en-US" sz="500" dirty="0"/>
          </a:p>
        </p:txBody>
      </p:sp>
      <p:sp>
        <p:nvSpPr>
          <p:cNvPr id="87" name="Shape 81"/>
          <p:cNvSpPr/>
          <p:nvPr/>
        </p:nvSpPr>
        <p:spPr>
          <a:xfrm>
            <a:off x="5032772" y="8053983"/>
            <a:ext cx="9186267" cy="429935"/>
          </a:xfrm>
          <a:prstGeom prst="roundRect">
            <a:avLst>
              <a:gd name="adj" fmla="val 2375"/>
            </a:avLst>
          </a:prstGeom>
          <a:solidFill>
            <a:srgbClr val="304755"/>
          </a:solidFill>
          <a:ln/>
        </p:spPr>
      </p:sp>
      <p:sp>
        <p:nvSpPr>
          <p:cNvPr id="88" name="Text 82"/>
          <p:cNvSpPr/>
          <p:nvPr/>
        </p:nvSpPr>
        <p:spPr>
          <a:xfrm>
            <a:off x="5100757" y="8121968"/>
            <a:ext cx="883801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Q4 2026 / Q1 2027</a:t>
            </a:r>
            <a:endParaRPr lang="en-US" sz="600" dirty="0"/>
          </a:p>
        </p:txBody>
      </p:sp>
      <p:sp>
        <p:nvSpPr>
          <p:cNvPr id="89" name="Text 83"/>
          <p:cNvSpPr/>
          <p:nvPr/>
        </p:nvSpPr>
        <p:spPr>
          <a:xfrm>
            <a:off x="5100757" y="8244126"/>
            <a:ext cx="9050298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Week 11–12 (Q4):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Optional: Modern Security specialization (AI Squad, 3–5). Advanced cert begins (or deferred to Q1).</a:t>
            </a:r>
            <a:endParaRPr lang="en-US" sz="500" dirty="0"/>
          </a:p>
        </p:txBody>
      </p:sp>
      <p:sp>
        <p:nvSpPr>
          <p:cNvPr id="90" name="Text 84"/>
          <p:cNvSpPr/>
          <p:nvPr/>
        </p:nvSpPr>
        <p:spPr>
          <a:xfrm>
            <a:off x="5100757" y="8336161"/>
            <a:ext cx="9050298" cy="797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END OF Q4: </a:t>
            </a:r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000000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✅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AI SQUAD ADVANCED SPECIALIZATION (Optional)</a:t>
            </a:r>
            <a:endParaRPr lang="en-US" sz="500" dirty="0"/>
          </a:p>
        </p:txBody>
      </p:sp>
      <p:sp>
        <p:nvSpPr>
          <p:cNvPr id="91" name="Shape 85"/>
          <p:cNvSpPr/>
          <p:nvPr/>
        </p:nvSpPr>
        <p:spPr>
          <a:xfrm>
            <a:off x="5032772" y="8542727"/>
            <a:ext cx="9186267" cy="16073"/>
          </a:xfrm>
          <a:prstGeom prst="rect">
            <a:avLst/>
          </a:prstGeom>
          <a:solidFill>
            <a:srgbClr val="CAD6DE">
              <a:alpha val="50000"/>
            </a:srgbClr>
          </a:solidFill>
          <a:ln/>
        </p:spPr>
      </p:sp>
      <p:sp>
        <p:nvSpPr>
          <p:cNvPr id="92" name="Text 86"/>
          <p:cNvSpPr/>
          <p:nvPr/>
        </p:nvSpPr>
        <p:spPr>
          <a:xfrm>
            <a:off x="5032772" y="8583573"/>
            <a:ext cx="1988225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Success Metrics (Tracked Weekly in Excel)</a:t>
            </a:r>
            <a:endParaRPr lang="en-US" sz="600" dirty="0"/>
          </a:p>
        </p:txBody>
      </p:sp>
      <p:sp>
        <p:nvSpPr>
          <p:cNvPr id="93" name="Text 87"/>
          <p:cNvSpPr/>
          <p:nvPr/>
        </p:nvSpPr>
        <p:spPr>
          <a:xfrm>
            <a:off x="418862" y="8752642"/>
            <a:ext cx="1648658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Entry-Level Completion (Q2 Target)</a:t>
            </a:r>
            <a:endParaRPr lang="en-US" sz="600" dirty="0"/>
          </a:p>
        </p:txBody>
      </p:sp>
      <p:sp>
        <p:nvSpPr>
          <p:cNvPr id="94" name="Text 88"/>
          <p:cNvSpPr/>
          <p:nvPr/>
        </p:nvSpPr>
        <p:spPr>
          <a:xfrm>
            <a:off x="418862" y="8874800"/>
            <a:ext cx="4440317" cy="1520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Week 2: 100% of 16 complete all 5 trainings</a:t>
            </a:r>
            <a:endParaRPr lang="en-US" sz="500" dirty="0"/>
          </a:p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Attestation dates: All 16 signed</a:t>
            </a:r>
            <a:endParaRPr lang="en-US" sz="500" dirty="0"/>
          </a:p>
        </p:txBody>
      </p:sp>
      <p:sp>
        <p:nvSpPr>
          <p:cNvPr id="95" name="Text 89"/>
          <p:cNvSpPr/>
          <p:nvPr/>
        </p:nvSpPr>
        <p:spPr>
          <a:xfrm>
            <a:off x="5032772" y="8752642"/>
            <a:ext cx="1755100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Labs &amp; CAISP Completion (Q3 Target)</a:t>
            </a:r>
            <a:endParaRPr lang="en-US" sz="600" dirty="0"/>
          </a:p>
        </p:txBody>
      </p:sp>
      <p:sp>
        <p:nvSpPr>
          <p:cNvPr id="96" name="Text 90"/>
          <p:cNvSpPr/>
          <p:nvPr/>
        </p:nvSpPr>
        <p:spPr>
          <a:xfrm>
            <a:off x="5032772" y="8874800"/>
            <a:ext cx="4440317" cy="311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Week 6: 100% of 16 labs submitted (Labs 1–9)</a:t>
            </a:r>
            <a:endParaRPr lang="en-US" sz="500" dirty="0"/>
          </a:p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Week 8: 100% of 16 capstone submitted</a:t>
            </a:r>
            <a:endParaRPr lang="en-US" sz="500" dirty="0"/>
          </a:p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Week 9: 100% of 16 CAISP exam passed</a:t>
            </a:r>
            <a:endParaRPr lang="en-US" sz="500" dirty="0"/>
          </a:p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% Certified: [# Passed] / 16 = 100%</a:t>
            </a:r>
            <a:endParaRPr lang="en-US" sz="500" dirty="0"/>
          </a:p>
        </p:txBody>
      </p:sp>
      <p:sp>
        <p:nvSpPr>
          <p:cNvPr id="97" name="Text 91"/>
          <p:cNvSpPr/>
          <p:nvPr/>
        </p:nvSpPr>
        <p:spPr>
          <a:xfrm>
            <a:off x="9646682" y="8752642"/>
            <a:ext cx="1932146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Modern Security Progress (Q4/Q1 Target)</a:t>
            </a:r>
            <a:endParaRPr lang="en-US" sz="600" dirty="0"/>
          </a:p>
        </p:txBody>
      </p:sp>
      <p:sp>
        <p:nvSpPr>
          <p:cNvPr id="98" name="Text 92"/>
          <p:cNvSpPr/>
          <p:nvPr/>
        </p:nvSpPr>
        <p:spPr>
          <a:xfrm>
            <a:off x="9646682" y="8874800"/>
            <a:ext cx="4579858" cy="1520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AI Squad + selected: 3–5 pursuing cert</a:t>
            </a:r>
            <a:endParaRPr lang="en-US" sz="500" dirty="0"/>
          </a:p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On-track for completion by Q4 or Q1</a:t>
            </a:r>
            <a:endParaRPr lang="en-US" sz="500" dirty="0"/>
          </a:p>
        </p:txBody>
      </p:sp>
      <p:sp>
        <p:nvSpPr>
          <p:cNvPr id="99" name="Text 93"/>
          <p:cNvSpPr/>
          <p:nvPr/>
        </p:nvSpPr>
        <p:spPr>
          <a:xfrm>
            <a:off x="9646682" y="9048869"/>
            <a:ext cx="917138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Escalation Triggers</a:t>
            </a:r>
            <a:endParaRPr lang="en-US" sz="600" dirty="0"/>
          </a:p>
        </p:txBody>
      </p:sp>
      <p:sp>
        <p:nvSpPr>
          <p:cNvPr id="100" name="Text 94"/>
          <p:cNvSpPr/>
          <p:nvPr/>
        </p:nvSpPr>
        <p:spPr>
          <a:xfrm>
            <a:off x="9646682" y="9171027"/>
            <a:ext cx="4579858" cy="254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000000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⚠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Week 2: Entry-level &lt; 50% complete → Team nudge</a:t>
            </a:r>
            <a:endParaRPr lang="en-US" sz="500" dirty="0"/>
          </a:p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000000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⚠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Week 6: Capstone &lt; 30% submitted → Check blockers</a:t>
            </a:r>
            <a:endParaRPr lang="en-US" sz="500" dirty="0"/>
          </a:p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000000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⚠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Week 10: CAISP &lt; 80% certified → Exam support</a:t>
            </a:r>
            <a:endParaRPr lang="en-US" sz="500" dirty="0"/>
          </a:p>
        </p:txBody>
      </p:sp>
      <p:sp>
        <p:nvSpPr>
          <p:cNvPr id="101" name="Text 95"/>
          <p:cNvSpPr/>
          <p:nvPr/>
        </p:nvSpPr>
        <p:spPr>
          <a:xfrm>
            <a:off x="418862" y="9458444"/>
            <a:ext cx="13792676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TRACKING TOOL: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Excel tracker (shared, automated formulas)</a:t>
            </a:r>
            <a:endParaRPr lang="en-US" sz="500" dirty="0"/>
          </a:p>
        </p:txBody>
      </p:sp>
      <p:sp>
        <p:nvSpPr>
          <p:cNvPr id="102" name="Shape 96"/>
          <p:cNvSpPr/>
          <p:nvPr/>
        </p:nvSpPr>
        <p:spPr>
          <a:xfrm>
            <a:off x="418862" y="9589405"/>
            <a:ext cx="13792676" cy="16073"/>
          </a:xfrm>
          <a:prstGeom prst="rect">
            <a:avLst/>
          </a:prstGeom>
          <a:solidFill>
            <a:srgbClr val="CAD6DE">
              <a:alpha val="50000"/>
            </a:srgbClr>
          </a:solidFill>
          <a:ln/>
        </p:spPr>
      </p:sp>
      <p:sp>
        <p:nvSpPr>
          <p:cNvPr id="103" name="Text 97"/>
          <p:cNvSpPr/>
          <p:nvPr/>
        </p:nvSpPr>
        <p:spPr>
          <a:xfrm>
            <a:off x="418862" y="9638467"/>
            <a:ext cx="922139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Budget Breakdown</a:t>
            </a:r>
            <a:endParaRPr lang="en-US" sz="600" dirty="0"/>
          </a:p>
        </p:txBody>
      </p:sp>
      <p:sp>
        <p:nvSpPr>
          <p:cNvPr id="104" name="Shape 98"/>
          <p:cNvSpPr/>
          <p:nvPr/>
        </p:nvSpPr>
        <p:spPr>
          <a:xfrm>
            <a:off x="418862" y="9771698"/>
            <a:ext cx="4582835" cy="576382"/>
          </a:xfrm>
          <a:prstGeom prst="roundRect">
            <a:avLst>
              <a:gd name="adj" fmla="val 1772"/>
            </a:avLst>
          </a:prstGeom>
          <a:solidFill>
            <a:srgbClr val="112836"/>
          </a:solidFill>
          <a:ln w="7620">
            <a:solidFill>
              <a:srgbClr val="49606E"/>
            </a:solidFill>
            <a:prstDash val="solid"/>
          </a:ln>
        </p:spPr>
      </p:sp>
      <p:sp>
        <p:nvSpPr>
          <p:cNvPr id="105" name="Text 99"/>
          <p:cNvSpPr/>
          <p:nvPr/>
        </p:nvSpPr>
        <p:spPr>
          <a:xfrm>
            <a:off x="494467" y="9847302"/>
            <a:ext cx="1851660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Phase 1: Entry-Level Training (Q2) | FREE</a:t>
            </a:r>
            <a:endParaRPr lang="en-US" sz="600" dirty="0"/>
          </a:p>
        </p:txBody>
      </p:sp>
      <p:sp>
        <p:nvSpPr>
          <p:cNvPr id="106" name="Text 100"/>
          <p:cNvSpPr/>
          <p:nvPr/>
        </p:nvSpPr>
        <p:spPr>
          <a:xfrm>
            <a:off x="494467" y="9960650"/>
            <a:ext cx="4431625" cy="23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OWASP Top 10, MITRE ATLAS, NIST AI RMF, RAND, Google SAIF</a:t>
            </a:r>
            <a:endParaRPr lang="en-US" sz="500" dirty="0"/>
          </a:p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Public resources (no cost)</a:t>
            </a:r>
            <a:endParaRPr lang="en-US" sz="500" dirty="0"/>
          </a:p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All 16 team members</a:t>
            </a:r>
            <a:endParaRPr lang="en-US" sz="500" dirty="0"/>
          </a:p>
        </p:txBody>
      </p:sp>
      <p:sp>
        <p:nvSpPr>
          <p:cNvPr id="107" name="Shape 101"/>
          <p:cNvSpPr/>
          <p:nvPr/>
        </p:nvSpPr>
        <p:spPr>
          <a:xfrm>
            <a:off x="5023723" y="9771698"/>
            <a:ext cx="4582835" cy="576382"/>
          </a:xfrm>
          <a:prstGeom prst="roundRect">
            <a:avLst>
              <a:gd name="adj" fmla="val 1772"/>
            </a:avLst>
          </a:prstGeom>
          <a:solidFill>
            <a:srgbClr val="112836"/>
          </a:solidFill>
          <a:ln w="7620">
            <a:solidFill>
              <a:srgbClr val="49606E"/>
            </a:solidFill>
            <a:prstDash val="solid"/>
          </a:ln>
        </p:spPr>
      </p:sp>
      <p:sp>
        <p:nvSpPr>
          <p:cNvPr id="108" name="Text 102"/>
          <p:cNvSpPr/>
          <p:nvPr/>
        </p:nvSpPr>
        <p:spPr>
          <a:xfrm>
            <a:off x="5099328" y="9847302"/>
            <a:ext cx="2285643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Phase 2: Hands-On Labs (Q3) | USD 1,099/person</a:t>
            </a:r>
            <a:endParaRPr lang="en-US" sz="600" dirty="0"/>
          </a:p>
        </p:txBody>
      </p:sp>
      <p:sp>
        <p:nvSpPr>
          <p:cNvPr id="109" name="Text 103"/>
          <p:cNvSpPr/>
          <p:nvPr/>
        </p:nvSpPr>
        <p:spPr>
          <a:xfrm>
            <a:off x="5099328" y="9960650"/>
            <a:ext cx="4431625" cy="311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Practical DevSecOps CAISP Program</a:t>
            </a:r>
            <a:endParaRPr lang="en-US" sz="500" dirty="0"/>
          </a:p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16 team members × USD 1,099 = </a:t>
            </a:r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USD 17,584</a:t>
            </a:r>
            <a:endParaRPr lang="en-US" sz="500" dirty="0"/>
          </a:p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Includes: 15 labs + 60-day access + CAISP exam + credential</a:t>
            </a:r>
            <a:endParaRPr lang="en-US" sz="500" dirty="0"/>
          </a:p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No hidden costs (all-in pricing)</a:t>
            </a:r>
            <a:endParaRPr lang="en-US" sz="500" dirty="0"/>
          </a:p>
        </p:txBody>
      </p:sp>
      <p:sp>
        <p:nvSpPr>
          <p:cNvPr id="110" name="Shape 104"/>
          <p:cNvSpPr/>
          <p:nvPr/>
        </p:nvSpPr>
        <p:spPr>
          <a:xfrm>
            <a:off x="9628584" y="9771698"/>
            <a:ext cx="4582954" cy="576382"/>
          </a:xfrm>
          <a:prstGeom prst="roundRect">
            <a:avLst>
              <a:gd name="adj" fmla="val 1772"/>
            </a:avLst>
          </a:prstGeom>
          <a:solidFill>
            <a:srgbClr val="112836"/>
          </a:solidFill>
          <a:ln w="7620">
            <a:solidFill>
              <a:srgbClr val="49606E"/>
            </a:solidFill>
            <a:prstDash val="solid"/>
          </a:ln>
        </p:spPr>
      </p:sp>
      <p:sp>
        <p:nvSpPr>
          <p:cNvPr id="111" name="Text 105"/>
          <p:cNvSpPr/>
          <p:nvPr/>
        </p:nvSpPr>
        <p:spPr>
          <a:xfrm>
            <a:off x="9704189" y="9847302"/>
            <a:ext cx="3123724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Phase 3: Modern Security Cert (Q4/Q1, Optional) | USD 900/person</a:t>
            </a:r>
            <a:endParaRPr lang="en-US" sz="600" dirty="0"/>
          </a:p>
        </p:txBody>
      </p:sp>
      <p:sp>
        <p:nvSpPr>
          <p:cNvPr id="112" name="Text 106"/>
          <p:cNvSpPr/>
          <p:nvPr/>
        </p:nvSpPr>
        <p:spPr>
          <a:xfrm>
            <a:off x="9704189" y="9960650"/>
            <a:ext cx="4431744" cy="23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For AI Squad + selected specialists (3–5 people)</a:t>
            </a:r>
            <a:endParaRPr lang="en-US" sz="500" dirty="0"/>
          </a:p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3–5 team members × USD 900 = USD 2,700–4,500</a:t>
            </a:r>
            <a:endParaRPr lang="en-US" sz="500" dirty="0"/>
          </a:p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Can defer to FY2027 if budget constraints</a:t>
            </a:r>
            <a:endParaRPr lang="en-US" sz="500" dirty="0"/>
          </a:p>
        </p:txBody>
      </p:sp>
      <p:sp>
        <p:nvSpPr>
          <p:cNvPr id="113" name="Text 107"/>
          <p:cNvSpPr/>
          <p:nvPr/>
        </p:nvSpPr>
        <p:spPr>
          <a:xfrm>
            <a:off x="1018699" y="10406896"/>
            <a:ext cx="2227778" cy="2245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50"/>
              </a:lnSpc>
              <a:buNone/>
            </a:pPr>
            <a:r>
              <a:rPr lang="en-US" sz="175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$17,584</a:t>
            </a:r>
            <a:endParaRPr lang="en-US" sz="1750" dirty="0"/>
          </a:p>
        </p:txBody>
      </p:sp>
      <p:sp>
        <p:nvSpPr>
          <p:cNvPr id="114" name="Text 108"/>
          <p:cNvSpPr/>
          <p:nvPr/>
        </p:nvSpPr>
        <p:spPr>
          <a:xfrm>
            <a:off x="1533882" y="10681930"/>
            <a:ext cx="1197412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Total Mandatory (Q2–Q3)</a:t>
            </a:r>
            <a:endParaRPr lang="en-US" sz="600" dirty="0"/>
          </a:p>
        </p:txBody>
      </p:sp>
      <p:sp>
        <p:nvSpPr>
          <p:cNvPr id="115" name="Text 109"/>
          <p:cNvSpPr/>
          <p:nvPr/>
        </p:nvSpPr>
        <p:spPr>
          <a:xfrm>
            <a:off x="4473773" y="10406896"/>
            <a:ext cx="2227778" cy="2245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50"/>
              </a:lnSpc>
              <a:buNone/>
            </a:pPr>
            <a:r>
              <a:rPr lang="en-US" sz="175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$22,084</a:t>
            </a:r>
            <a:endParaRPr lang="en-US" sz="1750" dirty="0"/>
          </a:p>
        </p:txBody>
      </p:sp>
      <p:sp>
        <p:nvSpPr>
          <p:cNvPr id="116" name="Text 110"/>
          <p:cNvSpPr/>
          <p:nvPr/>
        </p:nvSpPr>
        <p:spPr>
          <a:xfrm>
            <a:off x="4990386" y="10681930"/>
            <a:ext cx="1194435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Total With Optional (max)</a:t>
            </a:r>
            <a:endParaRPr lang="en-US" sz="600" dirty="0"/>
          </a:p>
        </p:txBody>
      </p:sp>
      <p:sp>
        <p:nvSpPr>
          <p:cNvPr id="117" name="Text 111"/>
          <p:cNvSpPr/>
          <p:nvPr/>
        </p:nvSpPr>
        <p:spPr>
          <a:xfrm>
            <a:off x="7928848" y="10406896"/>
            <a:ext cx="2227778" cy="2245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50"/>
              </a:lnSpc>
              <a:buNone/>
            </a:pPr>
            <a:r>
              <a:rPr lang="en-US" sz="175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$100K</a:t>
            </a:r>
            <a:endParaRPr lang="en-US" sz="1750" dirty="0"/>
          </a:p>
        </p:txBody>
      </p:sp>
      <p:sp>
        <p:nvSpPr>
          <p:cNvPr id="118" name="Text 112"/>
          <p:cNvSpPr/>
          <p:nvPr/>
        </p:nvSpPr>
        <p:spPr>
          <a:xfrm>
            <a:off x="8374856" y="10681930"/>
            <a:ext cx="1335762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External Cost Avoided (max)</a:t>
            </a:r>
            <a:endParaRPr lang="en-US" sz="600" dirty="0"/>
          </a:p>
        </p:txBody>
      </p:sp>
      <p:sp>
        <p:nvSpPr>
          <p:cNvPr id="119" name="Text 113"/>
          <p:cNvSpPr/>
          <p:nvPr/>
        </p:nvSpPr>
        <p:spPr>
          <a:xfrm>
            <a:off x="11383923" y="10406896"/>
            <a:ext cx="2227778" cy="2245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50"/>
              </a:lnSpc>
              <a:buNone/>
            </a:pPr>
            <a:r>
              <a:rPr lang="en-US" sz="175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16</a:t>
            </a:r>
            <a:endParaRPr lang="en-US" sz="1750" dirty="0"/>
          </a:p>
        </p:txBody>
      </p:sp>
      <p:sp>
        <p:nvSpPr>
          <p:cNvPr id="120" name="Text 114"/>
          <p:cNvSpPr/>
          <p:nvPr/>
        </p:nvSpPr>
        <p:spPr>
          <a:xfrm>
            <a:off x="11790521" y="10681930"/>
            <a:ext cx="1414582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CAISP-Certified Professionals</a:t>
            </a:r>
            <a:endParaRPr lang="en-US" sz="600" dirty="0"/>
          </a:p>
        </p:txBody>
      </p:sp>
      <p:sp>
        <p:nvSpPr>
          <p:cNvPr id="121" name="Shape 115"/>
          <p:cNvSpPr/>
          <p:nvPr/>
        </p:nvSpPr>
        <p:spPr>
          <a:xfrm>
            <a:off x="418862" y="10840871"/>
            <a:ext cx="13792676" cy="16073"/>
          </a:xfrm>
          <a:prstGeom prst="rect">
            <a:avLst/>
          </a:prstGeom>
          <a:solidFill>
            <a:srgbClr val="CAD6DE">
              <a:alpha val="50000"/>
            </a:srgbClr>
          </a:solidFill>
          <a:ln/>
        </p:spPr>
      </p:sp>
      <p:sp>
        <p:nvSpPr>
          <p:cNvPr id="122" name="Text 116"/>
          <p:cNvSpPr/>
          <p:nvPr/>
        </p:nvSpPr>
        <p:spPr>
          <a:xfrm>
            <a:off x="418862" y="10889933"/>
            <a:ext cx="883801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ROI &amp; Justification</a:t>
            </a:r>
            <a:endParaRPr lang="en-US" sz="600" dirty="0"/>
          </a:p>
        </p:txBody>
      </p:sp>
      <p:sp>
        <p:nvSpPr>
          <p:cNvPr id="123" name="Shape 117"/>
          <p:cNvSpPr/>
          <p:nvPr/>
        </p:nvSpPr>
        <p:spPr>
          <a:xfrm>
            <a:off x="418862" y="11023163"/>
            <a:ext cx="4582835" cy="619839"/>
          </a:xfrm>
          <a:prstGeom prst="roundRect">
            <a:avLst>
              <a:gd name="adj" fmla="val 1647"/>
            </a:avLst>
          </a:prstGeom>
          <a:solidFill>
            <a:srgbClr val="304755"/>
          </a:solidFill>
          <a:ln/>
        </p:spPr>
      </p:sp>
      <p:sp>
        <p:nvSpPr>
          <p:cNvPr id="124" name="Shape 118"/>
          <p:cNvSpPr/>
          <p:nvPr/>
        </p:nvSpPr>
        <p:spPr>
          <a:xfrm>
            <a:off x="486847" y="11091148"/>
            <a:ext cx="204192" cy="204192"/>
          </a:xfrm>
          <a:prstGeom prst="roundRect">
            <a:avLst>
              <a:gd name="adj" fmla="val 44776904"/>
            </a:avLst>
          </a:prstGeom>
          <a:solidFill>
            <a:srgbClr val="0A988B"/>
          </a:solidFill>
          <a:ln/>
        </p:spPr>
      </p:sp>
      <p:pic>
        <p:nvPicPr>
          <p:cNvPr id="125" name="Image 4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3044" y="11147227"/>
            <a:ext cx="91797" cy="91797"/>
          </a:xfrm>
          <a:prstGeom prst="rect">
            <a:avLst/>
          </a:prstGeom>
        </p:spPr>
      </p:pic>
      <p:sp>
        <p:nvSpPr>
          <p:cNvPr id="126" name="Text 119"/>
          <p:cNvSpPr/>
          <p:nvPr/>
        </p:nvSpPr>
        <p:spPr>
          <a:xfrm>
            <a:off x="486847" y="11317367"/>
            <a:ext cx="1560314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AI Factory Audit (Q2/Q3 Timeline)</a:t>
            </a:r>
            <a:endParaRPr lang="en-US" sz="600" dirty="0"/>
          </a:p>
        </p:txBody>
      </p:sp>
      <p:sp>
        <p:nvSpPr>
          <p:cNvPr id="127" name="Text 120"/>
          <p:cNvSpPr/>
          <p:nvPr/>
        </p:nvSpPr>
        <p:spPr>
          <a:xfrm>
            <a:off x="486847" y="11430714"/>
            <a:ext cx="4446865" cy="144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Team ready for deployment by end Q3 (CAISP certified). Independent assessment capability (no external consultants). Estimated external cost avoided: USD 50,000–100,000</a:t>
            </a:r>
            <a:endParaRPr lang="en-US" sz="500" dirty="0"/>
          </a:p>
        </p:txBody>
      </p:sp>
      <p:sp>
        <p:nvSpPr>
          <p:cNvPr id="128" name="Shape 121"/>
          <p:cNvSpPr/>
          <p:nvPr/>
        </p:nvSpPr>
        <p:spPr>
          <a:xfrm>
            <a:off x="5023723" y="11023163"/>
            <a:ext cx="4582835" cy="619839"/>
          </a:xfrm>
          <a:prstGeom prst="roundRect">
            <a:avLst>
              <a:gd name="adj" fmla="val 1647"/>
            </a:avLst>
          </a:prstGeom>
          <a:solidFill>
            <a:srgbClr val="304755"/>
          </a:solidFill>
          <a:ln/>
        </p:spPr>
      </p:sp>
      <p:sp>
        <p:nvSpPr>
          <p:cNvPr id="129" name="Shape 122"/>
          <p:cNvSpPr/>
          <p:nvPr/>
        </p:nvSpPr>
        <p:spPr>
          <a:xfrm>
            <a:off x="5091708" y="11091148"/>
            <a:ext cx="204192" cy="204192"/>
          </a:xfrm>
          <a:prstGeom prst="roundRect">
            <a:avLst>
              <a:gd name="adj" fmla="val 44776904"/>
            </a:avLst>
          </a:prstGeom>
          <a:solidFill>
            <a:srgbClr val="0A988B"/>
          </a:solidFill>
          <a:ln/>
        </p:spPr>
      </p:sp>
      <p:pic>
        <p:nvPicPr>
          <p:cNvPr id="130" name="Image 5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147905" y="11147227"/>
            <a:ext cx="91797" cy="91797"/>
          </a:xfrm>
          <a:prstGeom prst="rect">
            <a:avLst/>
          </a:prstGeom>
        </p:spPr>
      </p:pic>
      <p:sp>
        <p:nvSpPr>
          <p:cNvPr id="131" name="Text 123"/>
          <p:cNvSpPr/>
          <p:nvPr/>
        </p:nvSpPr>
        <p:spPr>
          <a:xfrm>
            <a:off x="5091708" y="11317367"/>
            <a:ext cx="800814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Cost Efficiency</a:t>
            </a:r>
            <a:endParaRPr lang="en-US" sz="600" dirty="0"/>
          </a:p>
        </p:txBody>
      </p:sp>
      <p:sp>
        <p:nvSpPr>
          <p:cNvPr id="132" name="Text 124"/>
          <p:cNvSpPr/>
          <p:nvPr/>
        </p:nvSpPr>
        <p:spPr>
          <a:xfrm>
            <a:off x="5091708" y="11430714"/>
            <a:ext cx="4446865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One AI Factory audit = ROI of entire program. Future audits = 40+ hours labor savings via red teaming automation</a:t>
            </a:r>
            <a:endParaRPr lang="en-US" sz="500" dirty="0"/>
          </a:p>
        </p:txBody>
      </p:sp>
      <p:sp>
        <p:nvSpPr>
          <p:cNvPr id="133" name="Shape 125"/>
          <p:cNvSpPr/>
          <p:nvPr/>
        </p:nvSpPr>
        <p:spPr>
          <a:xfrm>
            <a:off x="9628584" y="11023163"/>
            <a:ext cx="4582954" cy="619839"/>
          </a:xfrm>
          <a:prstGeom prst="roundRect">
            <a:avLst>
              <a:gd name="adj" fmla="val 1647"/>
            </a:avLst>
          </a:prstGeom>
          <a:solidFill>
            <a:srgbClr val="304755"/>
          </a:solidFill>
          <a:ln/>
        </p:spPr>
      </p:sp>
      <p:sp>
        <p:nvSpPr>
          <p:cNvPr id="134" name="Shape 126"/>
          <p:cNvSpPr/>
          <p:nvPr/>
        </p:nvSpPr>
        <p:spPr>
          <a:xfrm>
            <a:off x="9696569" y="11091148"/>
            <a:ext cx="204192" cy="204192"/>
          </a:xfrm>
          <a:prstGeom prst="roundRect">
            <a:avLst>
              <a:gd name="adj" fmla="val 44776904"/>
            </a:avLst>
          </a:prstGeom>
          <a:solidFill>
            <a:srgbClr val="0A988B"/>
          </a:solidFill>
          <a:ln/>
        </p:spPr>
      </p:sp>
      <p:pic>
        <p:nvPicPr>
          <p:cNvPr id="135" name="Image 6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752767" y="11147227"/>
            <a:ext cx="91797" cy="91797"/>
          </a:xfrm>
          <a:prstGeom prst="rect">
            <a:avLst/>
          </a:prstGeom>
        </p:spPr>
      </p:pic>
      <p:sp>
        <p:nvSpPr>
          <p:cNvPr id="136" name="Text 127"/>
          <p:cNvSpPr/>
          <p:nvPr/>
        </p:nvSpPr>
        <p:spPr>
          <a:xfrm>
            <a:off x="9696569" y="11317367"/>
            <a:ext cx="1210628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Repeatable Methodology</a:t>
            </a:r>
            <a:endParaRPr lang="en-US" sz="600" dirty="0"/>
          </a:p>
        </p:txBody>
      </p:sp>
      <p:sp>
        <p:nvSpPr>
          <p:cNvPr id="137" name="Text 128"/>
          <p:cNvSpPr/>
          <p:nvPr/>
        </p:nvSpPr>
        <p:spPr>
          <a:xfrm>
            <a:off x="9696569" y="11430714"/>
            <a:ext cx="4446984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OWASP Top 10 + MITRE ATLAS frameworks apply to ALL future AI audits. Scalable: New team members follow same 12-week path</a:t>
            </a:r>
            <a:endParaRPr lang="en-US" sz="500" dirty="0"/>
          </a:p>
        </p:txBody>
      </p:sp>
      <p:sp>
        <p:nvSpPr>
          <p:cNvPr id="138" name="Shape 129"/>
          <p:cNvSpPr/>
          <p:nvPr/>
        </p:nvSpPr>
        <p:spPr>
          <a:xfrm>
            <a:off x="418862" y="11665029"/>
            <a:ext cx="6885265" cy="547688"/>
          </a:xfrm>
          <a:prstGeom prst="roundRect">
            <a:avLst>
              <a:gd name="adj" fmla="val 1864"/>
            </a:avLst>
          </a:prstGeom>
          <a:solidFill>
            <a:srgbClr val="304755"/>
          </a:solidFill>
          <a:ln/>
        </p:spPr>
      </p:sp>
      <p:sp>
        <p:nvSpPr>
          <p:cNvPr id="139" name="Shape 130"/>
          <p:cNvSpPr/>
          <p:nvPr/>
        </p:nvSpPr>
        <p:spPr>
          <a:xfrm>
            <a:off x="486847" y="11733014"/>
            <a:ext cx="204192" cy="204192"/>
          </a:xfrm>
          <a:prstGeom prst="roundRect">
            <a:avLst>
              <a:gd name="adj" fmla="val 44776904"/>
            </a:avLst>
          </a:prstGeom>
          <a:solidFill>
            <a:srgbClr val="0A988B"/>
          </a:solidFill>
          <a:ln/>
        </p:spPr>
      </p:sp>
      <p:pic>
        <p:nvPicPr>
          <p:cNvPr id="140" name="Image 7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43044" y="11789093"/>
            <a:ext cx="91797" cy="91797"/>
          </a:xfrm>
          <a:prstGeom prst="rect">
            <a:avLst/>
          </a:prstGeom>
        </p:spPr>
      </p:pic>
      <p:sp>
        <p:nvSpPr>
          <p:cNvPr id="141" name="Text 131"/>
          <p:cNvSpPr/>
          <p:nvPr/>
        </p:nvSpPr>
        <p:spPr>
          <a:xfrm>
            <a:off x="486847" y="11959233"/>
            <a:ext cx="1341953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Team Capability &amp; Retention</a:t>
            </a:r>
            <a:endParaRPr lang="en-US" sz="600" dirty="0"/>
          </a:p>
        </p:txBody>
      </p:sp>
      <p:sp>
        <p:nvSpPr>
          <p:cNvPr id="142" name="Text 132"/>
          <p:cNvSpPr/>
          <p:nvPr/>
        </p:nvSpPr>
        <p:spPr>
          <a:xfrm>
            <a:off x="486847" y="12072580"/>
            <a:ext cx="6749296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16 CAISP-certified professionals. Professional credentials (resume, LinkedIn, career advancement). Supports talent retention &amp; market competitiveness</a:t>
            </a:r>
            <a:endParaRPr lang="en-US" sz="500" dirty="0"/>
          </a:p>
        </p:txBody>
      </p:sp>
      <p:sp>
        <p:nvSpPr>
          <p:cNvPr id="143" name="Shape 133"/>
          <p:cNvSpPr/>
          <p:nvPr/>
        </p:nvSpPr>
        <p:spPr>
          <a:xfrm>
            <a:off x="7326154" y="11665029"/>
            <a:ext cx="6885384" cy="547688"/>
          </a:xfrm>
          <a:prstGeom prst="roundRect">
            <a:avLst>
              <a:gd name="adj" fmla="val 1864"/>
            </a:avLst>
          </a:prstGeom>
          <a:solidFill>
            <a:srgbClr val="304755"/>
          </a:solidFill>
          <a:ln/>
        </p:spPr>
      </p:sp>
      <p:sp>
        <p:nvSpPr>
          <p:cNvPr id="144" name="Shape 134"/>
          <p:cNvSpPr/>
          <p:nvPr/>
        </p:nvSpPr>
        <p:spPr>
          <a:xfrm>
            <a:off x="7394138" y="11733014"/>
            <a:ext cx="204192" cy="204192"/>
          </a:xfrm>
          <a:prstGeom prst="roundRect">
            <a:avLst>
              <a:gd name="adj" fmla="val 44776904"/>
            </a:avLst>
          </a:prstGeom>
          <a:solidFill>
            <a:srgbClr val="0A988B"/>
          </a:solidFill>
          <a:ln/>
        </p:spPr>
      </p:sp>
      <p:pic>
        <p:nvPicPr>
          <p:cNvPr id="145" name="Image 8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450336" y="11789093"/>
            <a:ext cx="91797" cy="91797"/>
          </a:xfrm>
          <a:prstGeom prst="rect">
            <a:avLst/>
          </a:prstGeom>
        </p:spPr>
      </p:pic>
      <p:sp>
        <p:nvSpPr>
          <p:cNvPr id="146" name="Text 135"/>
          <p:cNvSpPr/>
          <p:nvPr/>
        </p:nvSpPr>
        <p:spPr>
          <a:xfrm>
            <a:off x="7394138" y="11959233"/>
            <a:ext cx="800814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Strategic Value</a:t>
            </a:r>
            <a:endParaRPr lang="en-US" sz="600" dirty="0"/>
          </a:p>
        </p:txBody>
      </p:sp>
      <p:sp>
        <p:nvSpPr>
          <p:cNvPr id="147" name="Text 136"/>
          <p:cNvSpPr/>
          <p:nvPr/>
        </p:nvSpPr>
        <p:spPr>
          <a:xfrm>
            <a:off x="7394138" y="12072580"/>
            <a:ext cx="6749415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Audit capability aligns with AI-driven business strategy. Board/Risk visibility: AI governance is auditable</a:t>
            </a:r>
            <a:endParaRPr lang="en-US" sz="500" dirty="0"/>
          </a:p>
        </p:txBody>
      </p:sp>
      <p:sp>
        <p:nvSpPr>
          <p:cNvPr id="148" name="Shape 137"/>
          <p:cNvSpPr/>
          <p:nvPr/>
        </p:nvSpPr>
        <p:spPr>
          <a:xfrm>
            <a:off x="418862" y="12271526"/>
            <a:ext cx="13792676" cy="16073"/>
          </a:xfrm>
          <a:prstGeom prst="rect">
            <a:avLst/>
          </a:prstGeom>
          <a:solidFill>
            <a:srgbClr val="CAD6DE">
              <a:alpha val="50000"/>
            </a:srgbClr>
          </a:solidFill>
          <a:ln/>
        </p:spPr>
      </p:sp>
      <p:sp>
        <p:nvSpPr>
          <p:cNvPr id="149" name="Text 138"/>
          <p:cNvSpPr/>
          <p:nvPr/>
        </p:nvSpPr>
        <p:spPr>
          <a:xfrm>
            <a:off x="418862" y="12320588"/>
            <a:ext cx="2293501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Phase 3 Clarification: Modern Security vs. CAISP</a:t>
            </a:r>
            <a:endParaRPr lang="en-US" sz="600" dirty="0"/>
          </a:p>
        </p:txBody>
      </p:sp>
      <p:sp>
        <p:nvSpPr>
          <p:cNvPr id="150" name="Text 139"/>
          <p:cNvSpPr/>
          <p:nvPr/>
        </p:nvSpPr>
        <p:spPr>
          <a:xfrm>
            <a:off x="418862" y="12453818"/>
            <a:ext cx="13792676" cy="144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Question: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Is there overlap between CAISP and Modern Security certifications?</a:t>
            </a:r>
            <a:endParaRPr lang="en-US" sz="500" dirty="0"/>
          </a:p>
          <a:p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Answer: Complementary, not duplicate</a:t>
            </a:r>
            <a:endParaRPr lang="en-US" sz="500" dirty="0"/>
          </a:p>
        </p:txBody>
      </p:sp>
      <p:sp>
        <p:nvSpPr>
          <p:cNvPr id="151" name="Shape 140"/>
          <p:cNvSpPr/>
          <p:nvPr/>
        </p:nvSpPr>
        <p:spPr>
          <a:xfrm>
            <a:off x="369808" y="12623006"/>
            <a:ext cx="6911459" cy="640080"/>
          </a:xfrm>
          <a:prstGeom prst="roundRect">
            <a:avLst>
              <a:gd name="adj" fmla="val 1595"/>
            </a:avLst>
          </a:prstGeom>
          <a:solidFill>
            <a:srgbClr val="1C3645"/>
          </a:solidFill>
          <a:ln/>
        </p:spPr>
      </p:sp>
      <p:sp>
        <p:nvSpPr>
          <p:cNvPr id="152" name="Text 141"/>
          <p:cNvSpPr/>
          <p:nvPr/>
        </p:nvSpPr>
        <p:spPr>
          <a:xfrm>
            <a:off x="437793" y="12645033"/>
            <a:ext cx="1971794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CAISP (Practical DevSecOps) Focuses On:</a:t>
            </a:r>
            <a:endParaRPr lang="en-US" sz="600" dirty="0"/>
          </a:p>
        </p:txBody>
      </p:sp>
      <p:sp>
        <p:nvSpPr>
          <p:cNvPr id="153" name="Text 142"/>
          <p:cNvSpPr/>
          <p:nvPr/>
        </p:nvSpPr>
        <p:spPr>
          <a:xfrm>
            <a:off x="437793" y="12767191"/>
            <a:ext cx="6775490" cy="311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OWASP Top 10 for LLMs (practical attacks)</a:t>
            </a:r>
            <a:endParaRPr lang="en-US" sz="500" dirty="0"/>
          </a:p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Prompt injection, model extraction, supply chain</a:t>
            </a:r>
            <a:endParaRPr lang="en-US" sz="500" dirty="0"/>
          </a:p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LLM-specific vulnerabilities</a:t>
            </a:r>
            <a:endParaRPr lang="en-US" sz="500" dirty="0"/>
          </a:p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Hands-on exploitation &amp; defense</a:t>
            </a:r>
            <a:endParaRPr lang="en-US" sz="500" dirty="0"/>
          </a:p>
        </p:txBody>
      </p:sp>
      <p:sp>
        <p:nvSpPr>
          <p:cNvPr id="154" name="Text 143"/>
          <p:cNvSpPr/>
          <p:nvPr/>
        </p:nvSpPr>
        <p:spPr>
          <a:xfrm>
            <a:off x="437793" y="13098899"/>
            <a:ext cx="6775490" cy="144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→ </a:t>
            </a:r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Core foundation: ALL 16 team members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→ Breadth across LLM attack surface</a:t>
            </a:r>
            <a:endParaRPr lang="en-US" sz="500" dirty="0"/>
          </a:p>
        </p:txBody>
      </p:sp>
      <p:sp>
        <p:nvSpPr>
          <p:cNvPr id="155" name="Text 144"/>
          <p:cNvSpPr/>
          <p:nvPr/>
        </p:nvSpPr>
        <p:spPr>
          <a:xfrm>
            <a:off x="7405807" y="12645033"/>
            <a:ext cx="2168009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Modern Security AI Security Cert Focuses On:</a:t>
            </a:r>
            <a:endParaRPr lang="en-US" sz="600" dirty="0"/>
          </a:p>
        </p:txBody>
      </p:sp>
      <p:sp>
        <p:nvSpPr>
          <p:cNvPr id="156" name="Text 145"/>
          <p:cNvSpPr/>
          <p:nvPr/>
        </p:nvSpPr>
        <p:spPr>
          <a:xfrm>
            <a:off x="7405807" y="12767191"/>
            <a:ext cx="6813352" cy="311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Threat modeling &amp; security architecture</a:t>
            </a:r>
            <a:endParaRPr lang="en-US" sz="500" dirty="0"/>
          </a:p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Agentic AI systems &amp; autonomous behaviors</a:t>
            </a:r>
            <a:endParaRPr lang="en-US" sz="500" dirty="0"/>
          </a:p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AI supply chain &amp; component integration</a:t>
            </a:r>
            <a:endParaRPr lang="en-US" sz="500" dirty="0"/>
          </a:p>
          <a:p>
            <a:pPr algn="l" marL="342900" indent="-342900">
              <a:lnSpc>
                <a:spcPts val="550"/>
              </a:lnSpc>
              <a:buSzPct val="100000"/>
              <a:buChar char="•"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Defense-in-depth strategies</a:t>
            </a:r>
            <a:endParaRPr lang="en-US" sz="500" dirty="0"/>
          </a:p>
        </p:txBody>
      </p:sp>
      <p:sp>
        <p:nvSpPr>
          <p:cNvPr id="157" name="Text 146"/>
          <p:cNvSpPr/>
          <p:nvPr/>
        </p:nvSpPr>
        <p:spPr>
          <a:xfrm>
            <a:off x="7405807" y="13098899"/>
            <a:ext cx="6813352" cy="144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→ </a:t>
            </a:r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Specialization: AI Squad + selected members (3–5)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→ Depth in enterprise AI security</a:t>
            </a:r>
            <a:endParaRPr lang="en-US" sz="500" dirty="0"/>
          </a:p>
        </p:txBody>
      </p:sp>
      <p:sp>
        <p:nvSpPr>
          <p:cNvPr id="158" name="Shape 147"/>
          <p:cNvSpPr/>
          <p:nvPr/>
        </p:nvSpPr>
        <p:spPr>
          <a:xfrm>
            <a:off x="418862" y="13287970"/>
            <a:ext cx="13792676" cy="381357"/>
          </a:xfrm>
          <a:prstGeom prst="roundRect">
            <a:avLst>
              <a:gd name="adj" fmla="val 2678"/>
            </a:avLst>
          </a:prstGeom>
          <a:solidFill>
            <a:srgbClr val="054842"/>
          </a:solidFill>
          <a:ln/>
        </p:spPr>
      </p:sp>
      <p:pic>
        <p:nvPicPr>
          <p:cNvPr id="159" name="Image 9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6847" y="13374291"/>
            <a:ext cx="85011" cy="67985"/>
          </a:xfrm>
          <a:prstGeom prst="rect">
            <a:avLst/>
          </a:prstGeom>
        </p:spPr>
      </p:pic>
      <p:sp>
        <p:nvSpPr>
          <p:cNvPr id="160" name="Text 148"/>
          <p:cNvSpPr/>
          <p:nvPr/>
        </p:nvSpPr>
        <p:spPr>
          <a:xfrm>
            <a:off x="639842" y="13326904"/>
            <a:ext cx="13503712" cy="28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Overlap: ~20%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FFFFFF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(both cover some supply chain &amp; governance)</a:t>
            </a:r>
            <a:endParaRPr lang="en-US" sz="500" dirty="0"/>
          </a:p>
          <a:p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Benefit: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FFFFFF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Modern Security builds ON CAISP foundation (not replacement)</a:t>
            </a:r>
            <a:endParaRPr lang="en-US" sz="500" dirty="0"/>
          </a:p>
          <a:p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Impact: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FFFFFF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AI Squad becomes SMEs on complex, multi-agent AI systems</a:t>
            </a:r>
            <a:endParaRPr lang="en-US" sz="500" dirty="0"/>
          </a:p>
          <a:p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Recommendation:</a:t>
            </a:r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FFFFFF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Pursue CAISP for all 16 (Q3), then Modern Security for 3–5 AI Squad (Q4/Q1) to maximize team impact</a:t>
            </a:r>
            <a:endParaRPr lang="en-US" sz="500" dirty="0"/>
          </a:p>
        </p:txBody>
      </p:sp>
      <p:sp>
        <p:nvSpPr>
          <p:cNvPr id="161" name="Shape 149"/>
          <p:cNvSpPr/>
          <p:nvPr/>
        </p:nvSpPr>
        <p:spPr>
          <a:xfrm>
            <a:off x="418862" y="13728137"/>
            <a:ext cx="13792676" cy="16073"/>
          </a:xfrm>
          <a:prstGeom prst="rect">
            <a:avLst/>
          </a:prstGeom>
          <a:solidFill>
            <a:srgbClr val="CAD6DE">
              <a:alpha val="50000"/>
            </a:srgbClr>
          </a:solidFill>
          <a:ln/>
        </p:spPr>
      </p:sp>
      <p:sp>
        <p:nvSpPr>
          <p:cNvPr id="162" name="Text 150"/>
          <p:cNvSpPr/>
          <p:nvPr/>
        </p:nvSpPr>
        <p:spPr>
          <a:xfrm>
            <a:off x="418862" y="13777198"/>
            <a:ext cx="1306949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Next Steps (Upon Approval)</a:t>
            </a:r>
            <a:endParaRPr lang="en-US" sz="600" dirty="0"/>
          </a:p>
        </p:txBody>
      </p:sp>
      <p:sp>
        <p:nvSpPr>
          <p:cNvPr id="163" name="Shape 151"/>
          <p:cNvSpPr/>
          <p:nvPr/>
        </p:nvSpPr>
        <p:spPr>
          <a:xfrm>
            <a:off x="418862" y="13910429"/>
            <a:ext cx="6885265" cy="204192"/>
          </a:xfrm>
          <a:prstGeom prst="roundRect">
            <a:avLst>
              <a:gd name="adj" fmla="val 480070"/>
            </a:avLst>
          </a:prstGeom>
          <a:solidFill>
            <a:srgbClr val="304755"/>
          </a:solidFill>
          <a:ln/>
        </p:spPr>
      </p:sp>
      <p:pic>
        <p:nvPicPr>
          <p:cNvPr id="164" name="Image 10" descr="preencoded.png">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810476" y="13961388"/>
            <a:ext cx="102037" cy="102037"/>
          </a:xfrm>
          <a:prstGeom prst="rect">
            <a:avLst/>
          </a:prstGeom>
        </p:spPr>
      </p:pic>
      <p:sp>
        <p:nvSpPr>
          <p:cNvPr id="165" name="Text 152"/>
          <p:cNvSpPr/>
          <p:nvPr/>
        </p:nvSpPr>
        <p:spPr>
          <a:xfrm>
            <a:off x="486847" y="14136648"/>
            <a:ext cx="800814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Q2 2026</a:t>
            </a:r>
            <a:endParaRPr lang="en-US" sz="600" dirty="0"/>
          </a:p>
        </p:txBody>
      </p:sp>
      <p:sp>
        <p:nvSpPr>
          <p:cNvPr id="166" name="Text 153"/>
          <p:cNvSpPr/>
          <p:nvPr/>
        </p:nvSpPr>
        <p:spPr>
          <a:xfrm>
            <a:off x="486847" y="14249995"/>
            <a:ext cx="6749296" cy="144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✓ Entry-level training (all 5, all 16 people)</a:t>
            </a:r>
            <a:endParaRPr lang="en-US" sz="500" dirty="0"/>
          </a:p>
          <a:p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✓ Platform enrollment</a:t>
            </a:r>
            <a:endParaRPr lang="en-US" sz="500" dirty="0"/>
          </a:p>
        </p:txBody>
      </p:sp>
      <p:sp>
        <p:nvSpPr>
          <p:cNvPr id="167" name="Shape 154"/>
          <p:cNvSpPr/>
          <p:nvPr/>
        </p:nvSpPr>
        <p:spPr>
          <a:xfrm>
            <a:off x="7326154" y="13910429"/>
            <a:ext cx="6885384" cy="204192"/>
          </a:xfrm>
          <a:prstGeom prst="roundRect">
            <a:avLst>
              <a:gd name="adj" fmla="val 480070"/>
            </a:avLst>
          </a:prstGeom>
          <a:solidFill>
            <a:srgbClr val="304755"/>
          </a:solidFill>
          <a:ln/>
        </p:spPr>
      </p:sp>
      <p:pic>
        <p:nvPicPr>
          <p:cNvPr id="168" name="Image 11" descr="preencoded.png">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0717768" y="13961388"/>
            <a:ext cx="102037" cy="102037"/>
          </a:xfrm>
          <a:prstGeom prst="rect">
            <a:avLst/>
          </a:prstGeom>
        </p:spPr>
      </p:pic>
      <p:sp>
        <p:nvSpPr>
          <p:cNvPr id="169" name="Text 155"/>
          <p:cNvSpPr/>
          <p:nvPr/>
        </p:nvSpPr>
        <p:spPr>
          <a:xfrm>
            <a:off x="7394138" y="14136648"/>
            <a:ext cx="800814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Q3 2026</a:t>
            </a:r>
            <a:endParaRPr lang="en-US" sz="600" dirty="0"/>
          </a:p>
        </p:txBody>
      </p:sp>
      <p:sp>
        <p:nvSpPr>
          <p:cNvPr id="170" name="Text 156"/>
          <p:cNvSpPr/>
          <p:nvPr/>
        </p:nvSpPr>
        <p:spPr>
          <a:xfrm>
            <a:off x="7394138" y="14249995"/>
            <a:ext cx="6749415" cy="216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✓ Hands-on labs (15 labs, all 16 people)</a:t>
            </a:r>
            <a:endParaRPr lang="en-US" sz="500" dirty="0"/>
          </a:p>
          <a:p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✓ CAISP certification (exam &amp; credential)</a:t>
            </a:r>
            <a:endParaRPr lang="en-US" sz="500" dirty="0"/>
          </a:p>
          <a:p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✓ </a:t>
            </a:r>
            <a:pPr algn="l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TEAM READY FOR AI FACTORY AUDIT</a:t>
            </a:r>
            <a:endParaRPr lang="en-US" sz="500" dirty="0"/>
          </a:p>
        </p:txBody>
      </p:sp>
      <p:sp>
        <p:nvSpPr>
          <p:cNvPr id="171" name="Shape 157"/>
          <p:cNvSpPr/>
          <p:nvPr/>
        </p:nvSpPr>
        <p:spPr>
          <a:xfrm>
            <a:off x="418862" y="14556462"/>
            <a:ext cx="6885265" cy="204192"/>
          </a:xfrm>
          <a:prstGeom prst="roundRect">
            <a:avLst>
              <a:gd name="adj" fmla="val 480070"/>
            </a:avLst>
          </a:prstGeom>
          <a:solidFill>
            <a:srgbClr val="304755"/>
          </a:solidFill>
          <a:ln/>
        </p:spPr>
      </p:sp>
      <p:pic>
        <p:nvPicPr>
          <p:cNvPr id="172" name="Image 12" descr="preencoded.png">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3810476" y="14607421"/>
            <a:ext cx="102037" cy="102037"/>
          </a:xfrm>
          <a:prstGeom prst="rect">
            <a:avLst/>
          </a:prstGeom>
        </p:spPr>
      </p:pic>
      <p:sp>
        <p:nvSpPr>
          <p:cNvPr id="173" name="Text 158"/>
          <p:cNvSpPr/>
          <p:nvPr/>
        </p:nvSpPr>
        <p:spPr>
          <a:xfrm>
            <a:off x="486847" y="14782681"/>
            <a:ext cx="800814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Q4 2026</a:t>
            </a:r>
            <a:endParaRPr lang="en-US" sz="600" dirty="0"/>
          </a:p>
        </p:txBody>
      </p:sp>
      <p:sp>
        <p:nvSpPr>
          <p:cNvPr id="174" name="Text 159"/>
          <p:cNvSpPr/>
          <p:nvPr/>
        </p:nvSpPr>
        <p:spPr>
          <a:xfrm>
            <a:off x="486847" y="14896028"/>
            <a:ext cx="6749296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✓ Modern Security specialization (AI Squad, 3–5)</a:t>
            </a:r>
            <a:endParaRPr lang="en-US" sz="500" dirty="0"/>
          </a:p>
        </p:txBody>
      </p:sp>
      <p:sp>
        <p:nvSpPr>
          <p:cNvPr id="175" name="Shape 160"/>
          <p:cNvSpPr/>
          <p:nvPr/>
        </p:nvSpPr>
        <p:spPr>
          <a:xfrm>
            <a:off x="7326154" y="14556462"/>
            <a:ext cx="6885384" cy="204192"/>
          </a:xfrm>
          <a:prstGeom prst="roundRect">
            <a:avLst>
              <a:gd name="adj" fmla="val 480070"/>
            </a:avLst>
          </a:prstGeom>
          <a:solidFill>
            <a:srgbClr val="304755"/>
          </a:solidFill>
          <a:ln/>
        </p:spPr>
      </p:sp>
      <p:pic>
        <p:nvPicPr>
          <p:cNvPr id="176" name="Image 13" descr="preencoded.png">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10717768" y="14607421"/>
            <a:ext cx="102037" cy="102037"/>
          </a:xfrm>
          <a:prstGeom prst="rect">
            <a:avLst/>
          </a:prstGeom>
        </p:spPr>
      </p:pic>
      <p:sp>
        <p:nvSpPr>
          <p:cNvPr id="177" name="Text 161"/>
          <p:cNvSpPr/>
          <p:nvPr/>
        </p:nvSpPr>
        <p:spPr>
          <a:xfrm>
            <a:off x="7394138" y="14782681"/>
            <a:ext cx="800814" cy="100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Q1 2027</a:t>
            </a:r>
            <a:endParaRPr lang="en-US" sz="600" dirty="0"/>
          </a:p>
        </p:txBody>
      </p:sp>
      <p:sp>
        <p:nvSpPr>
          <p:cNvPr id="178" name="Text 162"/>
          <p:cNvSpPr/>
          <p:nvPr/>
        </p:nvSpPr>
        <p:spPr>
          <a:xfrm>
            <a:off x="7394138" y="14896028"/>
            <a:ext cx="6749415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✓ Advanced cert completion (if deferred)</a:t>
            </a:r>
            <a:endParaRPr lang="en-US" sz="500" dirty="0"/>
          </a:p>
        </p:txBody>
      </p:sp>
      <p:sp>
        <p:nvSpPr>
          <p:cNvPr id="179" name="Shape 163"/>
          <p:cNvSpPr/>
          <p:nvPr/>
        </p:nvSpPr>
        <p:spPr>
          <a:xfrm>
            <a:off x="418862" y="15061049"/>
            <a:ext cx="13792676" cy="190976"/>
          </a:xfrm>
          <a:prstGeom prst="roundRect">
            <a:avLst>
              <a:gd name="adj" fmla="val 5347"/>
            </a:avLst>
          </a:prstGeom>
          <a:solidFill>
            <a:srgbClr val="054842"/>
          </a:solidFill>
          <a:ln/>
        </p:spPr>
      </p:sp>
      <p:pic>
        <p:nvPicPr>
          <p:cNvPr id="180" name="Image 14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86847" y="15147369"/>
            <a:ext cx="85011" cy="67985"/>
          </a:xfrm>
          <a:prstGeom prst="rect">
            <a:avLst/>
          </a:prstGeom>
        </p:spPr>
      </p:pic>
      <p:sp>
        <p:nvSpPr>
          <p:cNvPr id="181" name="Text 164"/>
          <p:cNvSpPr/>
          <p:nvPr/>
        </p:nvSpPr>
        <p:spPr>
          <a:xfrm>
            <a:off x="639842" y="15099983"/>
            <a:ext cx="13503712" cy="72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"/>
              </a:lnSpc>
              <a:buNone/>
            </a:pPr>
            <a:r>
              <a:rPr lang="en-US" sz="500" i="1" dirty="0">
                <a:solidFill>
                  <a:srgbClr val="FFFFFF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All timelines updated to Q2/Q3/Q4 per manager feedback. Phase 3 overlap addressed in talking points for separate call.</a:t>
            </a:r>
            <a:endParaRPr lang="en-US" sz="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2026-04-01T11:28:13Z</dcterms:created>
  <dcterms:modified xsi:type="dcterms:W3CDTF">2026-04-01T11:28:13Z</dcterms:modified>
</cp:coreProperties>
</file>