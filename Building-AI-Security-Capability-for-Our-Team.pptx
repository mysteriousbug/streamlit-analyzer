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Fraunces Extra Bold"/>
      <p:regular r:id="rId11"/>
    </p:embeddedFont>
    <p:embeddedFont>
      <p:font typeface="Fraunces Extra Bold"/>
      <p:regular r:id="rId12"/>
    </p:embeddedFont>
    <p:embeddedFont>
      <p:font typeface="Nobile"/>
      <p:regular r:id="rId13"/>
    </p:embeddedFont>
    <p:embeddedFont>
      <p:font typeface="Nobile"/>
      <p:regular r:id="rId14"/>
    </p:embeddedFont>
    <p:embeddedFont>
      <p:font typeface="Nobile"/>
      <p:regular r:id="rId15"/>
    </p:embeddedFont>
    <p:embeddedFont>
      <p:font typeface="Nobile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5903" y="627936"/>
            <a:ext cx="7564993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Building AI Security Capability for Our Team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75903" y="2270998"/>
            <a:ext cx="756499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12-week structured program to equip the ICS team with AI/LLM security audit skills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75903" y="3165396"/>
            <a:ext cx="7564993" cy="4436269"/>
          </a:xfrm>
          <a:prstGeom prst="roundRect">
            <a:avLst>
              <a:gd name="adj" fmla="val 4347"/>
            </a:avLst>
          </a:prstGeom>
          <a:solidFill>
            <a:srgbClr val="E8F3E8"/>
          </a:solidFill>
          <a:ln/>
        </p:spPr>
      </p:sp>
      <p:sp>
        <p:nvSpPr>
          <p:cNvPr id="6" name="Shape 3"/>
          <p:cNvSpPr/>
          <p:nvPr/>
        </p:nvSpPr>
        <p:spPr>
          <a:xfrm>
            <a:off x="6275903" y="3165396"/>
            <a:ext cx="3782497" cy="2884884"/>
          </a:xfrm>
          <a:prstGeom prst="roundRect">
            <a:avLst>
              <a:gd name="adj" fmla="val 6685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6490097" y="3379589"/>
            <a:ext cx="267866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Challenge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90097" y="3835837"/>
            <a:ext cx="335411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Factory audit requires hands-on security testing. Team lacks practical AI security skills. External consultants cost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USD 50,000–100,000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per engagement.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0058400" y="3165396"/>
            <a:ext cx="3782497" cy="288488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3165396"/>
            <a:ext cx="30480" cy="2884884"/>
          </a:xfrm>
          <a:prstGeom prst="roundRect">
            <a:avLst>
              <a:gd name="adj" fmla="val 632763"/>
            </a:avLst>
          </a:prstGeom>
          <a:solidFill>
            <a:srgbClr val="CED9CE"/>
          </a:solidFill>
          <a:ln/>
        </p:spPr>
      </p:sp>
      <p:sp>
        <p:nvSpPr>
          <p:cNvPr id="11" name="Text 8"/>
          <p:cNvSpPr/>
          <p:nvPr/>
        </p:nvSpPr>
        <p:spPr>
          <a:xfrm>
            <a:off x="10272593" y="3379589"/>
            <a:ext cx="267866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Solution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272593" y="3835837"/>
            <a:ext cx="335411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12-week structured learning path with self-paced labs and professional certification. All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 ICS team members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become CAISP-certified auditors.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75903" y="6050280"/>
            <a:ext cx="7564993" cy="1551384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4" name="Shape 11"/>
          <p:cNvSpPr/>
          <p:nvPr/>
        </p:nvSpPr>
        <p:spPr>
          <a:xfrm>
            <a:off x="6275903" y="6050280"/>
            <a:ext cx="7564993" cy="30480"/>
          </a:xfrm>
          <a:prstGeom prst="roundRect">
            <a:avLst>
              <a:gd name="adj" fmla="val 632763"/>
            </a:avLst>
          </a:prstGeom>
          <a:solidFill>
            <a:srgbClr val="CED9CE"/>
          </a:solidFill>
          <a:ln/>
        </p:spPr>
      </p:sp>
      <p:sp>
        <p:nvSpPr>
          <p:cNvPr id="15" name="Text 12"/>
          <p:cNvSpPr/>
          <p:nvPr/>
        </p:nvSpPr>
        <p:spPr>
          <a:xfrm>
            <a:off x="6490097" y="6264473"/>
            <a:ext cx="267866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Investment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90097" y="6720721"/>
            <a:ext cx="713660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USD 17,584 total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just USD 1,099 per team member. A fraction of external consultant cost, with repeatable capability for future audits.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6665"/>
            <a:ext cx="699504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3-Phase Learning Path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942028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Entry-Level Training → Hands-On Labs → Professional Certification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58998"/>
            <a:ext cx="1661041" cy="1026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15107"/>
            <a:ext cx="380928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Phase 1: Entry-Level Training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93790" y="4240649"/>
            <a:ext cx="1603772" cy="370642"/>
          </a:xfrm>
          <a:prstGeom prst="roundRect">
            <a:avLst>
              <a:gd name="adj" fmla="val 39657"/>
            </a:avLst>
          </a:prstGeom>
          <a:solidFill>
            <a:srgbClr val="DDEEE0"/>
          </a:solidFill>
          <a:ln/>
        </p:spPr>
      </p:sp>
      <p:sp>
        <p:nvSpPr>
          <p:cNvPr id="7" name="Text 4"/>
          <p:cNvSpPr/>
          <p:nvPr/>
        </p:nvSpPr>
        <p:spPr>
          <a:xfrm>
            <a:off x="916186" y="4301847"/>
            <a:ext cx="135897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WEEKS 1–2 · FREE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3790" y="4817983"/>
            <a:ext cx="4194572" cy="205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OWASP Top 10 for LLM Applications 2025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MITRE ATLAS Framework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NIST AI Risk Management Framework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Google Secure AI Framework &amp; RAND Guide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3790" y="6982658"/>
            <a:ext cx="419457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100% team attestation by Week 2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914" y="2458998"/>
            <a:ext cx="1661041" cy="10265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7914" y="3715107"/>
            <a:ext cx="312753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Phase 2: Hands-On Labs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217914" y="4240649"/>
            <a:ext cx="2797254" cy="370642"/>
          </a:xfrm>
          <a:prstGeom prst="roundRect">
            <a:avLst>
              <a:gd name="adj" fmla="val 39657"/>
            </a:avLst>
          </a:prstGeom>
          <a:solidFill>
            <a:srgbClr val="DDEEE0"/>
          </a:solidFill>
          <a:ln/>
        </p:spPr>
      </p:sp>
      <p:sp>
        <p:nvSpPr>
          <p:cNvPr id="13" name="Text 9"/>
          <p:cNvSpPr/>
          <p:nvPr/>
        </p:nvSpPr>
        <p:spPr>
          <a:xfrm>
            <a:off x="5340310" y="4301847"/>
            <a:ext cx="255246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WEEKS 4–8 · USD 1,099/PERSON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217914" y="4817983"/>
            <a:ext cx="4194572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15 progressive labs: prompt injection → model extraction → supply chain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 attacks on LLM systems (browser-based, self-paced)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CAISP certification exam included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217914" y="6608088"/>
            <a:ext cx="419457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All 16 members CAISP-certified by Week 8</a:t>
            </a:r>
            <a:endParaRPr lang="en-US" sz="16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038" y="2458998"/>
            <a:ext cx="1661041" cy="10265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42038" y="3715107"/>
            <a:ext cx="314837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Phase 3: Advanced Certs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642038" y="4240649"/>
            <a:ext cx="3740706" cy="385882"/>
          </a:xfrm>
          <a:prstGeom prst="roundRect">
            <a:avLst>
              <a:gd name="adj" fmla="val 38090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772055" y="4309467"/>
            <a:ext cx="348067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WEEKS 8–12 · OPTIONAL · USD 900/PERSON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642038" y="4833223"/>
            <a:ext cx="4194572" cy="1990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Modern Security AI Security Certification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Deeper threat modeling &amp; security architecture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Complements CAISP with specialized knowledge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642038" y="6933605"/>
            <a:ext cx="419457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Target: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3–5 interested team members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4648"/>
            <a:ext cx="757308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12-Week Timeline &amp; Success Tracking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713071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Weekly progress tracked in Excel — team attestation required at each milestone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137" y="3330654"/>
            <a:ext cx="5839539" cy="26277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4817" y="3458741"/>
            <a:ext cx="1021887" cy="15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Entry Training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924817" y="3661574"/>
            <a:ext cx="1021887" cy="21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Weeks 1-2 · 100% attestation by 16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25395" y="4155674"/>
            <a:ext cx="226345" cy="2263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5474" y="5350566"/>
            <a:ext cx="1027502" cy="31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Platform Onboard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935474" y="5711314"/>
            <a:ext cx="1027502" cy="21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 3 · all 16 enrolled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6053" y="4981044"/>
            <a:ext cx="226345" cy="2263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4903" y="3439090"/>
            <a:ext cx="1021887" cy="15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Labs &amp; CAISP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934903" y="3641923"/>
            <a:ext cx="1021887" cy="21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Weeks 4-8 · 100% certified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52325" y="4133215"/>
            <a:ext cx="226345" cy="2263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45560" y="5350566"/>
            <a:ext cx="1021887" cy="31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Advanced &amp; Audit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945560" y="5711314"/>
            <a:ext cx="1021887" cy="21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Weeks 8-12 · optional cert &amp; ready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6138" y="4981044"/>
            <a:ext cx="226345" cy="22634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30834" y="216515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Success Metrics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9530834" y="2538174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9507974" y="2538174"/>
            <a:ext cx="91440" cy="1154192"/>
          </a:xfrm>
          <a:prstGeom prst="roundRect">
            <a:avLst>
              <a:gd name="adj" fmla="val 156279"/>
            </a:avLst>
          </a:prstGeom>
          <a:solidFill>
            <a:srgbClr val="438951"/>
          </a:solidFill>
          <a:ln/>
        </p:spPr>
      </p:sp>
      <p:sp>
        <p:nvSpPr>
          <p:cNvPr id="20" name="Text 13"/>
          <p:cNvSpPr/>
          <p:nvPr/>
        </p:nvSpPr>
        <p:spPr>
          <a:xfrm>
            <a:off x="9780984" y="27197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Week 2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9780984" y="3078837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of 16 members complete all 5 entry-level trainings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9530834" y="3803452"/>
            <a:ext cx="4313277" cy="938213"/>
          </a:xfrm>
          <a:prstGeom prst="roundRect">
            <a:avLst>
              <a:gd name="adj" fmla="val 1169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507974" y="3803452"/>
            <a:ext cx="91440" cy="938213"/>
          </a:xfrm>
          <a:prstGeom prst="roundRect">
            <a:avLst>
              <a:gd name="adj" fmla="val 156279"/>
            </a:avLst>
          </a:prstGeom>
          <a:solidFill>
            <a:srgbClr val="438951"/>
          </a:solidFill>
          <a:ln/>
        </p:spPr>
      </p:sp>
      <p:sp>
        <p:nvSpPr>
          <p:cNvPr id="24" name="Text 17"/>
          <p:cNvSpPr/>
          <p:nvPr/>
        </p:nvSpPr>
        <p:spPr>
          <a:xfrm>
            <a:off x="9780984" y="398502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Week 8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9780984" y="4344114"/>
            <a:ext cx="388155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capstone submitted + CAISP exam passed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9530834" y="4852749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507974" y="4852749"/>
            <a:ext cx="91440" cy="1154192"/>
          </a:xfrm>
          <a:prstGeom prst="roundRect">
            <a:avLst>
              <a:gd name="adj" fmla="val 156279"/>
            </a:avLst>
          </a:prstGeom>
          <a:solidFill>
            <a:srgbClr val="438951"/>
          </a:solidFill>
          <a:ln/>
        </p:spPr>
      </p:sp>
      <p:sp>
        <p:nvSpPr>
          <p:cNvPr id="28" name="Text 21"/>
          <p:cNvSpPr/>
          <p:nvPr/>
        </p:nvSpPr>
        <p:spPr>
          <a:xfrm>
            <a:off x="9780984" y="503432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Week 12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9780984" y="5393412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3–5 members pursuing optional cert; team approved for AI Factory audit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9530834" y="6131957"/>
            <a:ext cx="4313277" cy="977979"/>
          </a:xfrm>
          <a:prstGeom prst="roundRect">
            <a:avLst>
              <a:gd name="adj" fmla="val 14612"/>
            </a:avLst>
          </a:prstGeom>
          <a:solidFill>
            <a:srgbClr val="CCE6D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9544" y="6343769"/>
            <a:ext cx="198358" cy="1587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46613" y="6282690"/>
            <a:ext cx="363878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Tracking: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Shared Excel tracker — 5 min/week per person, color-coded status, automated COUNTIF summaries reviewed every Friday.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771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Investment &amp; ROI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61887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USD 17,584 total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16 team members — repeatable capability for all future AI audits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39529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Budget Breakdown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93790" y="2880836"/>
            <a:ext cx="6286262" cy="3070622"/>
          </a:xfrm>
          <a:prstGeom prst="roundRect">
            <a:avLst>
              <a:gd name="adj" fmla="val 565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2888456"/>
            <a:ext cx="6271022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4291" y="2994303"/>
            <a:ext cx="36867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4206" y="2994303"/>
            <a:ext cx="180546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410" y="3385423"/>
            <a:ext cx="6271022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4291" y="3491270"/>
            <a:ext cx="36867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Entry-Level Training (5 frameworks)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206" y="3491270"/>
            <a:ext cx="180546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FREE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1410" y="3882390"/>
            <a:ext cx="6271022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4291" y="3988237"/>
            <a:ext cx="368677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Practical DevSecOps — 16 × USD 1,099 (labs + exam + CAISP credential)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206" y="3988237"/>
            <a:ext cx="180546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USD 17,584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1410" y="4664631"/>
            <a:ext cx="6271022" cy="782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94291" y="4770477"/>
            <a:ext cx="3686770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Modern Security Cert — optional, 3–5 people × USD 900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206" y="4770477"/>
            <a:ext cx="180546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USD 2,700–4,500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1410" y="5446871"/>
            <a:ext cx="6271022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94291" y="5552718"/>
            <a:ext cx="36867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Mandatory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206" y="5552718"/>
            <a:ext cx="180546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USD 17,584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57968" y="2395299"/>
            <a:ext cx="26056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Why It Pays for Itself</a:t>
            </a:r>
            <a:endParaRPr lang="en-US" sz="18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0239" y="2886730"/>
            <a:ext cx="289203" cy="28920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184475" y="288083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Cost Efficiency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8184475" y="3345894"/>
            <a:ext cx="5659755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External AI security audit costs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USD 50,000–100,000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per engagement. Our USD 17,584 investment pays for itself in a single audit.</a:t>
            </a:r>
            <a:endParaRPr lang="en-US" sz="15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0239" y="4535269"/>
            <a:ext cx="289203" cy="28920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184475" y="4529376"/>
            <a:ext cx="246852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Operational Savings</a:t>
            </a:r>
            <a:endParaRPr lang="en-US" sz="1850" dirty="0"/>
          </a:p>
        </p:txBody>
      </p:sp>
      <p:sp>
        <p:nvSpPr>
          <p:cNvPr id="27" name="Text 23"/>
          <p:cNvSpPr/>
          <p:nvPr/>
        </p:nvSpPr>
        <p:spPr>
          <a:xfrm>
            <a:off x="8184475" y="4994434"/>
            <a:ext cx="565975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 teaming automation saves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~40 hours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per AI audit using Promptfoo/DeepTeam skills.</a:t>
            </a:r>
            <a:endParaRPr lang="en-US" sz="15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0239" y="5898535"/>
            <a:ext cx="289203" cy="28920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184475" y="5892641"/>
            <a:ext cx="268355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Repeatable Capability</a:t>
            </a:r>
            <a:endParaRPr lang="en-US" sz="1850" dirty="0"/>
          </a:p>
        </p:txBody>
      </p:sp>
      <p:sp>
        <p:nvSpPr>
          <p:cNvPr id="30" name="Text 25"/>
          <p:cNvSpPr/>
          <p:nvPr/>
        </p:nvSpPr>
        <p:spPr>
          <a:xfrm>
            <a:off x="8184475" y="6357699"/>
            <a:ext cx="5659755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OWASP + MITRE ATLAS methodology applies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future AI audits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16 CAISP-certified professionals, credential valid 3 years.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2026-03-27T14:35:16Z</dcterms:created>
  <dcterms:modified xsi:type="dcterms:W3CDTF">2026-03-27T14:35:16Z</dcterms:modified>
</cp:coreProperties>
</file>